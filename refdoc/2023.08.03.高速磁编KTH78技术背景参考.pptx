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0.xml" ContentType="application/vnd.openxmlformats-officedocument.presentationml.notesSlide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30" r:id="rId2"/>
    <p:sldId id="679" r:id="rId3"/>
    <p:sldId id="685" r:id="rId4"/>
    <p:sldId id="686" r:id="rId5"/>
    <p:sldId id="684" r:id="rId6"/>
    <p:sldId id="677" r:id="rId7"/>
    <p:sldId id="676" r:id="rId8"/>
    <p:sldId id="678" r:id="rId9"/>
    <p:sldId id="682" r:id="rId10"/>
    <p:sldId id="689" r:id="rId11"/>
    <p:sldId id="697" r:id="rId12"/>
    <p:sldId id="698" r:id="rId13"/>
    <p:sldId id="680" r:id="rId14"/>
    <p:sldId id="681" r:id="rId15"/>
    <p:sldId id="687" r:id="rId16"/>
    <p:sldId id="696" r:id="rId17"/>
    <p:sldId id="688" r:id="rId18"/>
    <p:sldId id="690" r:id="rId19"/>
    <p:sldId id="691" r:id="rId20"/>
    <p:sldId id="693" r:id="rId21"/>
    <p:sldId id="694" r:id="rId22"/>
    <p:sldId id="692" r:id="rId23"/>
    <p:sldId id="700" r:id="rId24"/>
    <p:sldId id="702" r:id="rId25"/>
    <p:sldId id="701" r:id="rId26"/>
    <p:sldId id="704" r:id="rId27"/>
    <p:sldId id="705" r:id="rId28"/>
    <p:sldId id="706" r:id="rId29"/>
    <p:sldId id="707" r:id="rId30"/>
    <p:sldId id="708" r:id="rId31"/>
    <p:sldId id="709" r:id="rId32"/>
    <p:sldId id="261" r:id="rId33"/>
    <p:sldId id="673" r:id="rId34"/>
    <p:sldId id="670" r:id="rId35"/>
    <p:sldId id="669" r:id="rId36"/>
    <p:sldId id="672" r:id="rId37"/>
    <p:sldId id="67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47C2A-BC9A-4074-A0E0-29C761E68341}" v="2" dt="2023-08-03T06:24:19.403"/>
  </p1510:revLst>
</p1510:revInfo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496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o WANG" userId="2275d365427683ee" providerId="LiveId" clId="{41447C2A-BC9A-4074-A0E0-29C761E68341}"/>
    <pc:docChg chg="custSel modSld">
      <pc:chgData name="Chao WANG" userId="2275d365427683ee" providerId="LiveId" clId="{41447C2A-BC9A-4074-A0E0-29C761E68341}" dt="2023-08-03T06:52:42.480" v="13" actId="14100"/>
      <pc:docMkLst>
        <pc:docMk/>
      </pc:docMkLst>
      <pc:sldChg chg="modSp mod">
        <pc:chgData name="Chao WANG" userId="2275d365427683ee" providerId="LiveId" clId="{41447C2A-BC9A-4074-A0E0-29C761E68341}" dt="2023-08-03T06:52:42.480" v="13" actId="14100"/>
        <pc:sldMkLst>
          <pc:docMk/>
          <pc:sldMk cId="1591546899" sldId="682"/>
        </pc:sldMkLst>
        <pc:graphicFrameChg chg="mod modGraphic">
          <ac:chgData name="Chao WANG" userId="2275d365427683ee" providerId="LiveId" clId="{41447C2A-BC9A-4074-A0E0-29C761E68341}" dt="2023-08-03T06:52:42.480" v="13" actId="14100"/>
          <ac:graphicFrameMkLst>
            <pc:docMk/>
            <pc:sldMk cId="1591546899" sldId="682"/>
            <ac:graphicFrameMk id="4" creationId="{870F2F9B-A4BD-0D59-402A-C72C1B5F1D5B}"/>
          </ac:graphicFrameMkLst>
        </pc:graphicFrameChg>
      </pc:sldChg>
      <pc:sldChg chg="addSp modSp mod">
        <pc:chgData name="Chao WANG" userId="2275d365427683ee" providerId="LiveId" clId="{41447C2A-BC9A-4074-A0E0-29C761E68341}" dt="2023-08-03T06:31:54.722" v="8" actId="1582"/>
        <pc:sldMkLst>
          <pc:docMk/>
          <pc:sldMk cId="1799089550" sldId="688"/>
        </pc:sldMkLst>
        <pc:spChg chg="add mod">
          <ac:chgData name="Chao WANG" userId="2275d365427683ee" providerId="LiveId" clId="{41447C2A-BC9A-4074-A0E0-29C761E68341}" dt="2023-08-03T06:31:54.722" v="8" actId="1582"/>
          <ac:spMkLst>
            <pc:docMk/>
            <pc:sldMk cId="1799089550" sldId="688"/>
            <ac:spMk id="7" creationId="{D46C5310-4B82-4CCB-E6B1-05539FB58F74}"/>
          </ac:spMkLst>
        </pc:spChg>
      </pc:sldChg>
      <pc:sldChg chg="addSp delSp modSp mod">
        <pc:chgData name="Chao WANG" userId="2275d365427683ee" providerId="LiveId" clId="{41447C2A-BC9A-4074-A0E0-29C761E68341}" dt="2023-08-03T06:24:21.968" v="5" actId="478"/>
        <pc:sldMkLst>
          <pc:docMk/>
          <pc:sldMk cId="673134008" sldId="691"/>
        </pc:sldMkLst>
        <pc:spChg chg="add del mod">
          <ac:chgData name="Chao WANG" userId="2275d365427683ee" providerId="LiveId" clId="{41447C2A-BC9A-4074-A0E0-29C761E68341}" dt="2023-08-03T06:24:21.968" v="5" actId="478"/>
          <ac:spMkLst>
            <pc:docMk/>
            <pc:sldMk cId="673134008" sldId="691"/>
            <ac:spMk id="3" creationId="{4D810C21-9BCA-E9FD-E4B9-C1D51FF7B3F1}"/>
          </ac:spMkLst>
        </pc:spChg>
      </pc:sldChg>
      <pc:sldChg chg="modSp mod">
        <pc:chgData name="Chao WANG" userId="2275d365427683ee" providerId="LiveId" clId="{41447C2A-BC9A-4074-A0E0-29C761E68341}" dt="2023-08-03T06:23:38.970" v="3"/>
        <pc:sldMkLst>
          <pc:docMk/>
          <pc:sldMk cId="2081802075" sldId="698"/>
        </pc:sldMkLst>
        <pc:spChg chg="mod">
          <ac:chgData name="Chao WANG" userId="2275d365427683ee" providerId="LiveId" clId="{41447C2A-BC9A-4074-A0E0-29C761E68341}" dt="2023-08-03T06:23:38.970" v="3"/>
          <ac:spMkLst>
            <pc:docMk/>
            <pc:sldMk cId="2081802075" sldId="698"/>
            <ac:spMk id="18" creationId="{83052CEB-BC08-4177-0342-9279CFCCE6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4DE7E-7543-44F2-B975-D7CC67EF20D0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FD9E8-F2E0-42BE-A19F-6A600F37D7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34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722DA2-AE30-4689-8858-DF5EF2D92BE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FD9E8-F2E0-42BE-A19F-6A600F37D73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50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FD9E8-F2E0-42BE-A19F-6A600F37D73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758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FD9E8-F2E0-42BE-A19F-6A600F37D73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047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FD9E8-F2E0-42BE-A19F-6A600F37D73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24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FD9E8-F2E0-42BE-A19F-6A600F37D73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235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FD9E8-F2E0-42BE-A19F-6A600F37D73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155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FD9E8-F2E0-42BE-A19F-6A600F37D73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79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177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111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EDB3E-DF75-CE4D-64D7-09CCE5AC0D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3CEFF5-FDD1-3800-8DB7-664439873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397C60-C989-6355-D808-69AA1DCEB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B00644-EC01-4F8A-82D9-779D85D9DE19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81166D-340D-F768-2842-115BBEB6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7FB47C-81FF-5EC7-72B8-2FB845CE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38FBEF-8516-4640-82EA-37CDEFD6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62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0B6B9-0C84-D61B-F208-207E3F83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12ED5-2623-9127-8517-8C0C94DA5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B0EFFA-7118-CCF1-BAA7-10DF092F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B00644-EC01-4F8A-82D9-779D85D9DE19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B66418-A828-3A39-DF63-8891A060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E69C1-B3F9-6510-2702-E4DFA3B0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38FBEF-8516-4640-82EA-37CDEFD6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10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E4308-0486-B48B-C338-376A8AC0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9D7F9C-1E71-1404-8AC6-84F08A545E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B00644-EC01-4F8A-82D9-779D85D9DE19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B0FC18-CFE1-B6BB-1291-7F5BA814C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71C55D-D486-7AF5-E75A-2627C9ED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38FBEF-8516-4640-82EA-37CDEFD6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220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B30B35-1803-89C5-CBAC-4EBD4941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B00644-EC01-4F8A-82D9-779D85D9DE19}" type="datetimeFigureOut">
              <a:rPr lang="zh-CN" altLang="en-US" smtClean="0"/>
              <a:t>2023/8/3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8CFEC7-8E46-5510-9BD9-A1E1750E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4F6A0B-97D2-CD52-3F3B-DBF3ACB6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38FBEF-8516-4640-82EA-37CDEFD6A9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40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A2B59B-B4B1-A1F7-0A85-A4421905E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61" y="0"/>
            <a:ext cx="10393379" cy="1339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4070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3.xml"/><Relationship Id="rId7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11.xml"/><Relationship Id="rId7" Type="http://schemas.openxmlformats.org/officeDocument/2006/relationships/image" Target="../media/image21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15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7.xml"/><Relationship Id="rId10" Type="http://schemas.openxmlformats.org/officeDocument/2006/relationships/image" Target="../media/image24.png"/><Relationship Id="rId4" Type="http://schemas.openxmlformats.org/officeDocument/2006/relationships/tags" Target="../tags/tag16.xml"/><Relationship Id="rId9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tags" Target="../tags/tag20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22.xml"/><Relationship Id="rId10" Type="http://schemas.openxmlformats.org/officeDocument/2006/relationships/image" Target="../media/image25.png"/><Relationship Id="rId4" Type="http://schemas.openxmlformats.org/officeDocument/2006/relationships/tags" Target="../tags/tag21.xml"/><Relationship Id="rId9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latin typeface="微软雅黑 Light" panose="020B0502040204020203" pitchFamily="34" charset="-122"/>
                <a:ea typeface="微软雅黑" panose="020B0503020204020204" pitchFamily="34" charset="-122"/>
                <a:sym typeface="微软雅黑 Light" panose="020B0502040204020203" pitchFamily="34" charset="-122"/>
              </a:rPr>
              <a:t>1</a:t>
            </a:fld>
            <a:endParaRPr lang="zh-CN" altLang="en-US">
              <a:latin typeface="微软雅黑 Light" panose="020B0502040204020203" pitchFamily="34" charset="-122"/>
              <a:ea typeface="微软雅黑" panose="020B0503020204020204" pitchFamily="34" charset="-122"/>
              <a:sym typeface="微软雅黑 Light" panose="020B0502040204020203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 rot="1400643">
            <a:off x="167061" y="3176954"/>
            <a:ext cx="6412490" cy="1353912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  <a:alpha val="2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Light" panose="020B0300000000000000" pitchFamily="34" charset="-122"/>
              <a:ea typeface="思源黑体 CN Normal" panose="020B04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 rot="1400643">
            <a:off x="2631539" y="3239820"/>
            <a:ext cx="6412490" cy="2748609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  <a:alpha val="2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思源黑体 CN Light" panose="020B0300000000000000" pitchFamily="34" charset="-122"/>
              <a:ea typeface="思源黑体 CN Normal" panose="020B04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40" name="TextBox 12"/>
          <p:cNvSpPr txBox="1"/>
          <p:nvPr/>
        </p:nvSpPr>
        <p:spPr>
          <a:xfrm>
            <a:off x="5582324" y="2989122"/>
            <a:ext cx="5514340" cy="1507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HW SC" panose="020F0502020204030204"/>
              </a:rPr>
              <a:t>泉州昆泰芯微</a:t>
            </a:r>
            <a:endParaRPr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HW SC" panose="020F0502020204030204"/>
            </a:endParaRPr>
          </a:p>
          <a:p>
            <a:pPr algn="di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HW SC" panose="020F0502020204030204"/>
              </a:rPr>
              <a:t>电子科技有限公司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4713528" y="1575435"/>
            <a:ext cx="7317200" cy="1445260"/>
          </a:xfrm>
          <a:prstGeom prst="roundRect">
            <a:avLst/>
          </a:prstGeom>
          <a:solidFill>
            <a:srgbClr val="16A3AA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高速磁编</a:t>
            </a:r>
            <a:r>
              <a:rPr lang="en-US" altLang="zh-CN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3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技术背景参考</a:t>
            </a:r>
            <a:endParaRPr lang="en-US" altLang="zh-CN" sz="3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3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zh-CN" altLang="en-US" sz="33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内部人员培训用</a:t>
            </a:r>
            <a:r>
              <a:rPr lang="en-US" altLang="zh-CN" sz="33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lang="zh-CN" altLang="en-US" sz="3300" b="1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891492" y="4486248"/>
            <a:ext cx="3035959" cy="43088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dobe 黑体 Std R" panose="020B0400000000000000" charset="-122"/>
                <a:ea typeface="Adobe 黑体 Std R" panose="020B0400000000000000" charset="-122"/>
                <a:sym typeface="+mn-ea"/>
              </a:rPr>
              <a:t>www.conntek.com.cn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218792" y="1416683"/>
            <a:ext cx="5363532" cy="4024633"/>
            <a:chOff x="1730143" y="-451792"/>
            <a:chExt cx="4023642" cy="3019220"/>
          </a:xfrm>
        </p:grpSpPr>
        <p:grpSp>
          <p:nvGrpSpPr>
            <p:cNvPr id="56" name="组合 55"/>
            <p:cNvGrpSpPr/>
            <p:nvPr/>
          </p:nvGrpSpPr>
          <p:grpSpPr>
            <a:xfrm>
              <a:off x="1730143" y="-136301"/>
              <a:ext cx="4023642" cy="2122988"/>
              <a:chOff x="-396838" y="1471779"/>
              <a:chExt cx="4023642" cy="2122988"/>
            </a:xfrm>
          </p:grpSpPr>
          <p:sp>
            <p:nvSpPr>
              <p:cNvPr id="61" name="平行四边形 60"/>
              <p:cNvSpPr/>
              <p:nvPr/>
            </p:nvSpPr>
            <p:spPr>
              <a:xfrm flipH="1">
                <a:off x="-396838" y="1471779"/>
                <a:ext cx="1980816" cy="1813793"/>
              </a:xfrm>
              <a:prstGeom prst="parallelogram">
                <a:avLst>
                  <a:gd name="adj" fmla="val 56121"/>
                </a:avLst>
              </a:prstGeom>
              <a:blipFill dpi="0" rotWithShape="1">
                <a:blip r:embed="rId3"/>
                <a:srcRect/>
                <a:stretch>
                  <a:fillRect t="-2000" r="-63000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思源黑体 CN Light" panose="020B0300000000000000" pitchFamily="34" charset="-122"/>
                  <a:ea typeface="思源黑体 CN Normal" panose="020B0400000000000000" pitchFamily="34" charset="-122"/>
                  <a:sym typeface="思源黑体 CN Light" panose="020B0300000000000000" pitchFamily="34" charset="-122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 flipH="1">
                <a:off x="767825" y="1780974"/>
                <a:ext cx="1980816" cy="1813793"/>
              </a:xfrm>
              <a:prstGeom prst="parallelogram">
                <a:avLst>
                  <a:gd name="adj" fmla="val 56121"/>
                </a:avLst>
              </a:prstGeom>
              <a:solidFill>
                <a:srgbClr val="16A3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rgbClr val="FFFF00"/>
                  </a:solidFill>
                  <a:latin typeface="思源黑体 CN Light" panose="020B0300000000000000" pitchFamily="34" charset="-122"/>
                  <a:ea typeface="思源黑体 CN Normal" panose="020B0400000000000000" pitchFamily="34" charset="-122"/>
                  <a:sym typeface="思源黑体 CN Light" panose="020B0300000000000000" pitchFamily="34" charset="-122"/>
                </a:endParaRPr>
              </a:p>
            </p:txBody>
          </p:sp>
          <p:sp>
            <p:nvSpPr>
              <p:cNvPr id="63" name="平行四边形 62"/>
              <p:cNvSpPr/>
              <p:nvPr/>
            </p:nvSpPr>
            <p:spPr>
              <a:xfrm flipH="1">
                <a:off x="1645988" y="1585669"/>
                <a:ext cx="1980816" cy="1813793"/>
              </a:xfrm>
              <a:prstGeom prst="parallelogram">
                <a:avLst>
                  <a:gd name="adj" fmla="val 56121"/>
                </a:avLst>
              </a:prstGeom>
              <a:blipFill dpi="0" rotWithShape="1">
                <a:blip r:embed="rId4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latin typeface="思源黑体 CN Light" panose="020B0300000000000000" pitchFamily="34" charset="-122"/>
                  <a:ea typeface="思源黑体 CN Normal" panose="020B0400000000000000" pitchFamily="34" charset="-122"/>
                  <a:sym typeface="思源黑体 CN Light" panose="020B0300000000000000" pitchFamily="34" charset="-122"/>
                </a:endParaRPr>
              </a:p>
            </p:txBody>
          </p:sp>
        </p:grpSp>
        <p:cxnSp>
          <p:nvCxnSpPr>
            <p:cNvPr id="57" name="直接连接符 6"/>
            <p:cNvCxnSpPr/>
            <p:nvPr/>
          </p:nvCxnSpPr>
          <p:spPr>
            <a:xfrm>
              <a:off x="2646281" y="-451792"/>
              <a:ext cx="918401" cy="1485367"/>
            </a:xfrm>
            <a:prstGeom prst="line">
              <a:avLst/>
            </a:prstGeom>
            <a:ln>
              <a:solidFill>
                <a:srgbClr val="16A3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29"/>
            <p:cNvCxnSpPr/>
            <p:nvPr/>
          </p:nvCxnSpPr>
          <p:spPr>
            <a:xfrm>
              <a:off x="2731577" y="313948"/>
              <a:ext cx="1369015" cy="2253480"/>
            </a:xfrm>
            <a:prstGeom prst="line">
              <a:avLst/>
            </a:prstGeom>
            <a:ln>
              <a:solidFill>
                <a:srgbClr val="16A3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30"/>
            <p:cNvCxnSpPr/>
            <p:nvPr/>
          </p:nvCxnSpPr>
          <p:spPr>
            <a:xfrm>
              <a:off x="4231093" y="1285028"/>
              <a:ext cx="639302" cy="901990"/>
            </a:xfrm>
            <a:prstGeom prst="line">
              <a:avLst/>
            </a:prstGeom>
            <a:ln>
              <a:solidFill>
                <a:srgbClr val="16A3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31"/>
            <p:cNvCxnSpPr/>
            <p:nvPr/>
          </p:nvCxnSpPr>
          <p:spPr>
            <a:xfrm>
              <a:off x="3731736" y="-240237"/>
              <a:ext cx="1205896" cy="2179524"/>
            </a:xfrm>
            <a:prstGeom prst="line">
              <a:avLst/>
            </a:prstGeom>
            <a:ln>
              <a:solidFill>
                <a:srgbClr val="16A3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BB264F2-ADBB-1CBE-EC6E-9CD4A508313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710" y="239344"/>
            <a:ext cx="1947311" cy="3251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核心信号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角度的二进制表示和处理</a:t>
            </a:r>
          </a:p>
        </p:txBody>
      </p:sp>
    </p:spTree>
    <p:extLst>
      <p:ext uri="{BB962C8B-B14F-4D97-AF65-F5344CB8AC3E}">
        <p14:creationId xmlns:p14="http://schemas.microsoft.com/office/powerpoint/2010/main" val="2888228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87098-E1D3-9271-B3F8-34BB46D50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61" y="0"/>
            <a:ext cx="11857589" cy="1339913"/>
          </a:xfrm>
        </p:spPr>
        <p:txBody>
          <a:bodyPr/>
          <a:lstStyle/>
          <a:p>
            <a:pPr algn="ctr"/>
            <a:r>
              <a:rPr lang="zh-CN" altLang="en-US" dirty="0"/>
              <a:t>角度的二进制表示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B384B-7244-8FA4-C6E9-5B1242250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1781175"/>
            <a:ext cx="5019675" cy="4613486"/>
          </a:xfrm>
        </p:spPr>
        <p:txBody>
          <a:bodyPr/>
          <a:lstStyle/>
          <a:p>
            <a:r>
              <a:rPr lang="en-US" altLang="zh-CN" sz="1800" b="1" i="0" u="none" strike="noStrike" kern="1200" dirty="0">
                <a:solidFill>
                  <a:srgbClr val="FFFFFF"/>
                </a:solidFill>
                <a:effectLst/>
                <a:latin typeface="等线" panose="02010600030101010101" pitchFamily="2" charset="-122"/>
              </a:rPr>
              <a:t>UVW</a:t>
            </a:r>
            <a:endParaRPr lang="zh-CN" altLang="zh-C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/>
              <a:t>一般编码器</a:t>
            </a:r>
            <a:r>
              <a:rPr lang="en-US" altLang="zh-CN" sz="1600" dirty="0"/>
              <a:t>(</a:t>
            </a:r>
            <a:r>
              <a:rPr lang="zh-CN" altLang="en-US" sz="1600" dirty="0"/>
              <a:t>包括磁编和光编</a:t>
            </a:r>
            <a:r>
              <a:rPr lang="en-US" altLang="zh-CN" sz="16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/>
              <a:t>角度值使用多位</a:t>
            </a:r>
            <a:r>
              <a:rPr lang="en-US" altLang="zh-CN" sz="1600" dirty="0"/>
              <a:t>(</a:t>
            </a:r>
            <a:r>
              <a:rPr lang="zh-CN" altLang="en-US" sz="1600" dirty="0"/>
              <a:t>例如</a:t>
            </a:r>
            <a:r>
              <a:rPr lang="en-US" altLang="zh-CN" sz="1600" dirty="0"/>
              <a:t>16</a:t>
            </a:r>
            <a:r>
              <a:rPr lang="zh-CN" altLang="en-US" sz="1600" dirty="0"/>
              <a:t>位</a:t>
            </a:r>
            <a:r>
              <a:rPr lang="en-US" altLang="zh-CN" sz="1600" dirty="0"/>
              <a:t>)</a:t>
            </a:r>
            <a:r>
              <a:rPr lang="zh-CN" altLang="en-US" sz="1600" dirty="0"/>
              <a:t>二进制编码进行表示</a:t>
            </a: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/>
              <a:t>一般对外交流情况下</a:t>
            </a:r>
            <a:r>
              <a:rPr lang="en-US" altLang="zh-CN" sz="1600" dirty="0"/>
              <a:t>, </a:t>
            </a:r>
            <a:r>
              <a:rPr lang="zh-CN" altLang="en-US" sz="1600" dirty="0"/>
              <a:t>角度都用 </a:t>
            </a:r>
            <a:r>
              <a:rPr lang="en-US" altLang="zh-CN" sz="1600" dirty="0"/>
              <a:t>16 </a:t>
            </a:r>
            <a:r>
              <a:rPr lang="zh-CN" altLang="en-US" sz="1600" dirty="0"/>
              <a:t>位二进制表示</a:t>
            </a:r>
            <a:endParaRPr lang="en-US" altLang="zh-CN" sz="16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/>
              <a:t>实际系统内部</a:t>
            </a:r>
            <a:r>
              <a:rPr lang="en-US" altLang="zh-CN" sz="1600" dirty="0"/>
              <a:t>, </a:t>
            </a:r>
            <a:r>
              <a:rPr lang="zh-CN" altLang="en-US" sz="1600" dirty="0"/>
              <a:t>角度的位数可能更多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5FEE58-2815-1BB9-E58A-7EEC54FA3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2" y="3374852"/>
            <a:ext cx="4772587" cy="8790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FE1DB24-79E7-F90D-A02E-919502E95DBE}"/>
              </a:ext>
            </a:extLst>
          </p:cNvPr>
          <p:cNvSpPr txBox="1"/>
          <p:nvPr/>
        </p:nvSpPr>
        <p:spPr>
          <a:xfrm>
            <a:off x="6505013" y="1746985"/>
            <a:ext cx="4455319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/>
              <a:t>例如，角度值可以用</a:t>
            </a:r>
            <a:r>
              <a:rPr lang="en-US" altLang="zh-CN" sz="1800" dirty="0"/>
              <a:t>16</a:t>
            </a:r>
            <a:r>
              <a:rPr lang="zh-CN" altLang="en-US" sz="1800" dirty="0"/>
              <a:t>位二进制形式的整数来表示，范围从 </a:t>
            </a:r>
            <a:r>
              <a:rPr lang="en-US" altLang="zh-CN" sz="1800" dirty="0"/>
              <a:t>0 </a:t>
            </a:r>
            <a:r>
              <a:rPr lang="zh-CN" altLang="en-US" sz="1800" dirty="0"/>
              <a:t>到 </a:t>
            </a:r>
            <a:r>
              <a:rPr lang="en-US" altLang="zh-CN" sz="1800" dirty="0"/>
              <a:t>65535, </a:t>
            </a:r>
            <a:r>
              <a:rPr lang="zh-CN" altLang="en-US" sz="1800" dirty="0"/>
              <a:t>转化为角度的公式如下</a:t>
            </a:r>
            <a:r>
              <a:rPr lang="en-US" altLang="zh-CN" sz="1800" dirty="0"/>
              <a:t>:</a:t>
            </a:r>
            <a:endParaRPr lang="zh-CN" altLang="en-US" sz="1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9D33DB-2A9C-4D8A-F8C3-73BD75FB0898}"/>
              </a:ext>
            </a:extLst>
          </p:cNvPr>
          <p:cNvSpPr txBox="1"/>
          <p:nvPr/>
        </p:nvSpPr>
        <p:spPr>
          <a:xfrm>
            <a:off x="6487089" y="4483546"/>
            <a:ext cx="46863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highlight>
                  <a:srgbClr val="FFFF00"/>
                </a:highlight>
              </a:rPr>
              <a:t>0000</a:t>
            </a:r>
            <a:r>
              <a:rPr lang="en-US" altLang="zh-CN" sz="1800" dirty="0"/>
              <a:t>0000</a:t>
            </a:r>
            <a:r>
              <a:rPr lang="en-US" altLang="zh-CN" sz="1800" dirty="0">
                <a:highlight>
                  <a:srgbClr val="FFFF00"/>
                </a:highlight>
              </a:rPr>
              <a:t>0000</a:t>
            </a:r>
            <a:r>
              <a:rPr lang="en-US" altLang="zh-CN" sz="1800" dirty="0"/>
              <a:t>000</a:t>
            </a:r>
            <a:r>
              <a:rPr lang="en-US" altLang="zh-CN" sz="1800" dirty="0">
                <a:highlight>
                  <a:srgbClr val="C0C0C0"/>
                </a:highlight>
              </a:rPr>
              <a:t>1</a:t>
            </a:r>
            <a:r>
              <a:rPr lang="en-US" altLang="zh-CN" sz="1800" dirty="0"/>
              <a:t>=0.0055 </a:t>
            </a:r>
            <a:r>
              <a:rPr lang="zh-CN" altLang="en-US" sz="1800" dirty="0"/>
              <a:t>度</a:t>
            </a:r>
            <a:endParaRPr lang="en-US" altLang="zh-CN" sz="1800" dirty="0"/>
          </a:p>
          <a:p>
            <a:r>
              <a:rPr lang="en-US" altLang="zh-CN" sz="1800" dirty="0">
                <a:highlight>
                  <a:srgbClr val="FFFF00"/>
                </a:highlight>
              </a:rPr>
              <a:t>0000</a:t>
            </a:r>
            <a:r>
              <a:rPr lang="en-US" altLang="zh-CN" sz="1800" dirty="0"/>
              <a:t>0000</a:t>
            </a:r>
            <a:r>
              <a:rPr lang="en-US" altLang="zh-CN" sz="1800" dirty="0">
                <a:highlight>
                  <a:srgbClr val="FFFF00"/>
                </a:highlight>
              </a:rPr>
              <a:t>0000</a:t>
            </a:r>
            <a:r>
              <a:rPr lang="en-US" altLang="zh-CN" sz="1800" dirty="0"/>
              <a:t>0</a:t>
            </a:r>
            <a:r>
              <a:rPr lang="en-US" altLang="zh-CN" sz="1800" dirty="0">
                <a:highlight>
                  <a:srgbClr val="C0C0C0"/>
                </a:highlight>
              </a:rPr>
              <a:t>1</a:t>
            </a:r>
            <a:r>
              <a:rPr lang="en-US" altLang="zh-CN" sz="1800" dirty="0"/>
              <a:t>00=0.0220 </a:t>
            </a:r>
            <a:r>
              <a:rPr lang="zh-CN" altLang="en-US" sz="1800" dirty="0"/>
              <a:t>度</a:t>
            </a:r>
            <a:endParaRPr lang="en-US" altLang="zh-CN" sz="1800" dirty="0"/>
          </a:p>
          <a:p>
            <a:r>
              <a:rPr lang="en-US" altLang="zh-CN" sz="1800" dirty="0">
                <a:highlight>
                  <a:srgbClr val="FFFF00"/>
                </a:highlight>
              </a:rPr>
              <a:t>0000</a:t>
            </a:r>
            <a:r>
              <a:rPr lang="en-US" altLang="zh-CN" sz="1800" dirty="0"/>
              <a:t>0000</a:t>
            </a:r>
            <a:r>
              <a:rPr lang="en-US" altLang="zh-CN" sz="1800" dirty="0">
                <a:highlight>
                  <a:srgbClr val="FFFF00"/>
                </a:highlight>
              </a:rPr>
              <a:t>000</a:t>
            </a:r>
            <a:r>
              <a:rPr lang="en-US" altLang="zh-CN" sz="1800" dirty="0">
                <a:highlight>
                  <a:srgbClr val="C0C0C0"/>
                </a:highlight>
              </a:rPr>
              <a:t>1</a:t>
            </a:r>
            <a:r>
              <a:rPr lang="en-US" altLang="zh-CN" sz="1800" dirty="0"/>
              <a:t>0000=0.0879 </a:t>
            </a:r>
            <a:r>
              <a:rPr lang="zh-CN" altLang="en-US" sz="1800" dirty="0"/>
              <a:t>度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9098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9C7C25-2874-7200-B4B0-00D9D776D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4186" y="568588"/>
            <a:ext cx="7811802" cy="5365487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448D6086-EA6A-547E-9631-6C28C5AE1635}"/>
              </a:ext>
            </a:extLst>
          </p:cNvPr>
          <p:cNvSpPr/>
          <p:nvPr/>
        </p:nvSpPr>
        <p:spPr>
          <a:xfrm rot="20573126">
            <a:off x="-2343855" y="2291454"/>
            <a:ext cx="9256083" cy="3620094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模拟磁场角度信号</a:t>
            </a:r>
            <a:endParaRPr lang="en-US" altLang="zh-CN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转为</a:t>
            </a:r>
            <a:endParaRPr lang="en-US" altLang="zh-CN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C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位二进制角度数字信号</a:t>
            </a:r>
            <a:endParaRPr lang="zh-CN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F525C18-FD2D-DF4B-057D-4085F72692A9}"/>
              </a:ext>
            </a:extLst>
          </p:cNvPr>
          <p:cNvSpPr/>
          <p:nvPr/>
        </p:nvSpPr>
        <p:spPr>
          <a:xfrm rot="993863">
            <a:off x="5311567" y="3372288"/>
            <a:ext cx="2398857" cy="4400782"/>
          </a:xfrm>
          <a:prstGeom prst="ellipse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增加</a:t>
            </a:r>
            <a:r>
              <a:rPr lang="en-US" altLang="zh-C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ABZ</a:t>
            </a:r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信号</a:t>
            </a:r>
            <a:endParaRPr lang="en-US" altLang="zh-CN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输出速率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71796C5-C4D2-4EFA-D6AB-345D81489144}"/>
              </a:ext>
            </a:extLst>
          </p:cNvPr>
          <p:cNvSpPr/>
          <p:nvPr/>
        </p:nvSpPr>
        <p:spPr>
          <a:xfrm>
            <a:off x="7590059" y="1962905"/>
            <a:ext cx="3058891" cy="3949576"/>
          </a:xfrm>
          <a:prstGeom prst="ellipse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各种不同</a:t>
            </a:r>
            <a:endParaRPr lang="en-US" altLang="zh-CN"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角度编码形式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320AA9-5177-CE6E-ABF5-1568B1422D93}"/>
              </a:ext>
            </a:extLst>
          </p:cNvPr>
          <p:cNvSpPr/>
          <p:nvPr/>
        </p:nvSpPr>
        <p:spPr>
          <a:xfrm rot="20965708">
            <a:off x="7219363" y="207640"/>
            <a:ext cx="4859691" cy="1680880"/>
          </a:xfrm>
          <a:prstGeom prst="ellipse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和客户</a:t>
            </a:r>
            <a:r>
              <a:rPr lang="en-US" altLang="zh-C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MCU</a:t>
            </a:r>
          </a:p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通信</a:t>
            </a:r>
          </a:p>
          <a:p>
            <a:pPr algn="ctr"/>
            <a:endParaRPr lang="zh-CN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C284CF9-1B95-2D5D-A6E9-3C559FCC1FEA}"/>
              </a:ext>
            </a:extLst>
          </p:cNvPr>
          <p:cNvSpPr/>
          <p:nvPr/>
        </p:nvSpPr>
        <p:spPr>
          <a:xfrm rot="626329">
            <a:off x="-479982" y="-378210"/>
            <a:ext cx="7720697" cy="2372424"/>
          </a:xfrm>
          <a:prstGeom prst="ellipse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存储修改</a:t>
            </a:r>
          </a:p>
          <a:p>
            <a:pPr algn="ctr"/>
            <a:r>
              <a:rPr lang="zh-CN" altLang="en-US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运行参数</a:t>
            </a:r>
          </a:p>
        </p:txBody>
      </p:sp>
    </p:spTree>
    <p:extLst>
      <p:ext uri="{BB962C8B-B14F-4D97-AF65-F5344CB8AC3E}">
        <p14:creationId xmlns:p14="http://schemas.microsoft.com/office/powerpoint/2010/main" val="1955304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核心指标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分辨率</a:t>
            </a:r>
            <a:r>
              <a:rPr lang="en-US" altLang="zh-CN" dirty="0"/>
              <a:t> </a:t>
            </a:r>
            <a:r>
              <a:rPr lang="zh-CN" altLang="en-US" dirty="0"/>
              <a:t>精度 重复性 噪声</a:t>
            </a:r>
          </a:p>
        </p:txBody>
      </p:sp>
    </p:spTree>
    <p:extLst>
      <p:ext uri="{BB962C8B-B14F-4D97-AF65-F5344CB8AC3E}">
        <p14:creationId xmlns:p14="http://schemas.microsoft.com/office/powerpoint/2010/main" val="123469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C6D616-E7A0-E862-0B21-DD5CAA8C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79360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精度</a:t>
            </a:r>
            <a:b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Accuracy</a:t>
            </a:r>
            <a:b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zh-CN" alt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CF22AE-439A-601C-DBA9-5681AD9ABC72}"/>
              </a:ext>
            </a:extLst>
          </p:cNvPr>
          <p:cNvSpPr txBox="1"/>
          <p:nvPr/>
        </p:nvSpPr>
        <p:spPr>
          <a:xfrm>
            <a:off x="838200" y="1952625"/>
            <a:ext cx="4924425" cy="42243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700" dirty="0"/>
              <a:t>编码器测量位置与理论位置的偏差</a:t>
            </a:r>
            <a:endParaRPr lang="en-US" altLang="zh-CN" sz="17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700" dirty="0">
                <a:latin typeface="楷体" panose="02010609060101010101" pitchFamily="49" charset="-122"/>
                <a:ea typeface="楷体" panose="02010609060101010101" pitchFamily="49" charset="-122"/>
              </a:rPr>
              <a:t>如果我们把真实的位置想象成一个靶心，那么精度就表示我们的“箭”打中靶心的程度。高精度的编码器能够更准确地反映出实际位置。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700" dirty="0"/>
              <a:t>在</a:t>
            </a:r>
            <a:r>
              <a:rPr lang="en-US" altLang="zh-CN" sz="1700" dirty="0"/>
              <a:t>KTH78</a:t>
            </a:r>
            <a:r>
              <a:rPr lang="zh-CN" altLang="en-US" sz="1700" dirty="0"/>
              <a:t>系列磁编传感器中， 结果与真实位置之间的最大误差是</a:t>
            </a:r>
            <a:r>
              <a:rPr lang="en-US" altLang="zh-CN" sz="1700" dirty="0"/>
              <a:t>±0.022°</a:t>
            </a:r>
            <a:r>
              <a:rPr lang="zh-CN" altLang="en-US" sz="1700" dirty="0"/>
              <a:t>，那么我们就说这个传感器的精度是</a:t>
            </a:r>
            <a:r>
              <a:rPr lang="en-US" altLang="zh-CN" sz="1700" b="1" dirty="0">
                <a:solidFill>
                  <a:srgbClr val="FF0000"/>
                </a:solidFill>
              </a:rPr>
              <a:t>±0.022°, </a:t>
            </a:r>
            <a:r>
              <a:rPr lang="zh-CN" altLang="en-US" sz="1700" dirty="0"/>
              <a:t>约等于</a:t>
            </a:r>
            <a:r>
              <a:rPr lang="en-US" altLang="zh-CN" sz="1700" b="1" dirty="0">
                <a:solidFill>
                  <a:srgbClr val="FF0000"/>
                </a:solidFill>
              </a:rPr>
              <a:t>14</a:t>
            </a:r>
            <a:r>
              <a:rPr lang="zh-CN" altLang="en-US" sz="1700" b="1" dirty="0">
                <a:solidFill>
                  <a:srgbClr val="FF0000"/>
                </a:solidFill>
              </a:rPr>
              <a:t>位</a:t>
            </a:r>
            <a:r>
              <a:rPr lang="zh-CN" altLang="en-US" sz="1700" dirty="0"/>
              <a:t>。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700" dirty="0"/>
              <a:t>精度一般受噪声影</a:t>
            </a:r>
            <a:r>
              <a:rPr lang="en-US" altLang="zh-CN" sz="1700" dirty="0"/>
              <a:t>,</a:t>
            </a:r>
            <a:r>
              <a:rPr lang="zh-CN" altLang="en-US" sz="1700" dirty="0"/>
              <a:t>响噪声的幅值</a:t>
            </a:r>
            <a:r>
              <a:rPr lang="en-US" altLang="zh-CN" sz="1700" dirty="0"/>
              <a:t>(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±3σ</a:t>
            </a:r>
            <a:r>
              <a:rPr lang="en-US" altLang="zh-CN" sz="1700" dirty="0"/>
              <a:t>)</a:t>
            </a:r>
            <a:r>
              <a:rPr lang="zh-CN" altLang="en-US" sz="1700" dirty="0"/>
              <a:t>就是精度数值</a:t>
            </a:r>
            <a:endParaRPr lang="en-US" altLang="zh-CN" sz="1700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700" b="1" dirty="0"/>
              <a:t>增加滤波器可以增加精度</a:t>
            </a:r>
            <a:endParaRPr lang="en-US" altLang="zh-CN" sz="1700" b="1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700" dirty="0"/>
              <a:t>同义词：绝对分辨率、测量误差、定位精度、偏差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5DCD14-AFAC-CD8A-6787-7C91E81923F8}"/>
              </a:ext>
            </a:extLst>
          </p:cNvPr>
          <p:cNvSpPr txBox="1"/>
          <p:nvPr/>
        </p:nvSpPr>
        <p:spPr>
          <a:xfrm>
            <a:off x="855412" y="6046157"/>
            <a:ext cx="3627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客户可以使用同义词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但我们的表述中不要出现同义词</a:t>
            </a:r>
            <a:endParaRPr lang="zh-CN" altLang="en-US" sz="1100" dirty="0"/>
          </a:p>
        </p:txBody>
      </p:sp>
      <p:pic>
        <p:nvPicPr>
          <p:cNvPr id="14" name="图片 13" descr="电脑游戏的截图&#10;&#10;中度可信度描述已自动生成">
            <a:extLst>
              <a:ext uri="{FF2B5EF4-FFF2-40B4-BE49-F238E27FC236}">
                <a16:creationId xmlns:a16="http://schemas.microsoft.com/office/drawing/2014/main" id="{4302D914-66BD-015A-46E3-18C632D16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347" y="681038"/>
            <a:ext cx="6152119" cy="5271571"/>
          </a:xfrm>
          <a:prstGeom prst="rect">
            <a:avLst/>
          </a:prstGeom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02761ECB-A9DB-215A-DD85-595BE3397706}"/>
              </a:ext>
            </a:extLst>
          </p:cNvPr>
          <p:cNvSpPr/>
          <p:nvPr/>
        </p:nvSpPr>
        <p:spPr>
          <a:xfrm rot="19645330">
            <a:off x="6598821" y="4011525"/>
            <a:ext cx="922777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3BC1722-A929-31FB-A9D3-9992629B973A}"/>
              </a:ext>
            </a:extLst>
          </p:cNvPr>
          <p:cNvSpPr/>
          <p:nvPr/>
        </p:nvSpPr>
        <p:spPr>
          <a:xfrm rot="19645330">
            <a:off x="6598822" y="4665848"/>
            <a:ext cx="922777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C2A1B8-E4F2-707B-9C7F-D98D0FD04322}"/>
              </a:ext>
            </a:extLst>
          </p:cNvPr>
          <p:cNvSpPr/>
          <p:nvPr/>
        </p:nvSpPr>
        <p:spPr>
          <a:xfrm rot="19645330">
            <a:off x="9307491" y="3974677"/>
            <a:ext cx="922777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117F318-7D6C-6AEE-171A-FDBC52DD8FC2}"/>
              </a:ext>
            </a:extLst>
          </p:cNvPr>
          <p:cNvSpPr/>
          <p:nvPr/>
        </p:nvSpPr>
        <p:spPr>
          <a:xfrm rot="19645330">
            <a:off x="9352769" y="4501843"/>
            <a:ext cx="922777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857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C6D616-E7A0-E862-0B21-DD5CAA8C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79360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分辨率</a:t>
            </a:r>
            <a:b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Resolution</a:t>
            </a:r>
            <a:b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zh-CN" alt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CF22AE-439A-601C-DBA9-5681AD9ABC72}"/>
              </a:ext>
            </a:extLst>
          </p:cNvPr>
          <p:cNvSpPr txBox="1"/>
          <p:nvPr/>
        </p:nvSpPr>
        <p:spPr>
          <a:xfrm>
            <a:off x="838201" y="1952625"/>
            <a:ext cx="4166936" cy="422433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800" dirty="0"/>
              <a:t>分辨率就像是这个测量工具的刻度。</a:t>
            </a:r>
            <a:endParaRPr lang="en-US" altLang="zh-CN" sz="1800" dirty="0"/>
          </a:p>
          <a:p>
            <a:pPr algn="just">
              <a:lnSpc>
                <a:spcPct val="150000"/>
              </a:lnSpc>
            </a:pP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比如，你在尺子上看到的每一个小刻度就代表了尺子的分辨率。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en-US" altLang="zh-CN" sz="1800" dirty="0"/>
              <a:t>KTH78</a:t>
            </a:r>
            <a:r>
              <a:rPr lang="zh-CN" altLang="en-US" sz="1800" dirty="0"/>
              <a:t>系列编码器的</a:t>
            </a:r>
            <a:r>
              <a:rPr lang="zh-CN" altLang="en-US" sz="1800" b="1" dirty="0">
                <a:solidFill>
                  <a:srgbClr val="FF0000"/>
                </a:solidFill>
              </a:rPr>
              <a:t>分辨率为</a:t>
            </a:r>
            <a:r>
              <a:rPr lang="en-US" altLang="zh-CN" sz="1800" b="1" dirty="0">
                <a:solidFill>
                  <a:srgbClr val="FF0000"/>
                </a:solidFill>
              </a:rPr>
              <a:t>16</a:t>
            </a:r>
            <a:r>
              <a:rPr lang="zh-CN" altLang="en-US" sz="1800" b="1" dirty="0">
                <a:solidFill>
                  <a:srgbClr val="FF0000"/>
                </a:solidFill>
              </a:rPr>
              <a:t>位</a:t>
            </a:r>
            <a:r>
              <a:rPr lang="zh-CN" altLang="en-US" sz="1800" dirty="0"/>
              <a:t>，那么它就可以在一整圈（</a:t>
            </a:r>
            <a:r>
              <a:rPr lang="en-US" altLang="zh-CN" sz="1800" dirty="0"/>
              <a:t>360</a:t>
            </a:r>
            <a:r>
              <a:rPr lang="zh-CN" altLang="en-US" sz="1800" dirty="0"/>
              <a:t>度）内分辨出</a:t>
            </a:r>
            <a:r>
              <a:rPr lang="en-US" altLang="zh-CN" sz="1800" dirty="0"/>
              <a:t>65536</a:t>
            </a:r>
            <a:r>
              <a:rPr lang="zh-CN" altLang="en-US" sz="1800" dirty="0"/>
              <a:t>（</a:t>
            </a:r>
            <a:r>
              <a:rPr lang="en-US" altLang="zh-CN" sz="1800" dirty="0"/>
              <a:t>2^16</a:t>
            </a:r>
            <a:r>
              <a:rPr lang="zh-CN" altLang="en-US" sz="1800" dirty="0"/>
              <a:t>）个不同的位置。相比之下，分辨率较低的编码器可能只能分辨出</a:t>
            </a:r>
            <a:r>
              <a:rPr lang="en-US" altLang="zh-CN" sz="1800" dirty="0"/>
              <a:t>360</a:t>
            </a:r>
            <a:r>
              <a:rPr lang="zh-CN" altLang="en-US" sz="1800" dirty="0"/>
              <a:t>个或者</a:t>
            </a:r>
            <a:r>
              <a:rPr lang="en-US" altLang="zh-CN" sz="1800" dirty="0"/>
              <a:t>90</a:t>
            </a:r>
            <a:r>
              <a:rPr lang="zh-CN" altLang="en-US" sz="1800" dirty="0"/>
              <a:t>个不同的位置。</a:t>
            </a:r>
            <a:endParaRPr lang="en-US" altLang="zh-CN" sz="1800" dirty="0"/>
          </a:p>
          <a:p>
            <a:pPr algn="just">
              <a:lnSpc>
                <a:spcPct val="150000"/>
              </a:lnSpc>
            </a:pP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en-US" sz="1800" dirty="0"/>
              <a:t>分辨率可以由数字参数定义</a:t>
            </a:r>
            <a:r>
              <a:rPr lang="en-US" altLang="zh-CN" sz="1800" dirty="0"/>
              <a:t>.</a:t>
            </a:r>
            <a:endParaRPr lang="zh-CN" altLang="en-US" sz="1800" dirty="0"/>
          </a:p>
          <a:p>
            <a:pPr algn="just">
              <a:lnSpc>
                <a:spcPct val="150000"/>
              </a:lnSpc>
            </a:pPr>
            <a:endParaRPr lang="zh-CN" altLang="en-US" sz="1800" dirty="0"/>
          </a:p>
          <a:p>
            <a:pPr algn="just">
              <a:lnSpc>
                <a:spcPct val="150000"/>
              </a:lnSpc>
            </a:pPr>
            <a:r>
              <a:rPr lang="zh-CN" altLang="en-US" sz="1800" dirty="0"/>
              <a:t>同义词：精细度、测量单位、计数、位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zh-CN" altLang="en-US" sz="17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523399-FAEC-DAAF-E2B2-9E48E2AB78C1}"/>
              </a:ext>
            </a:extLst>
          </p:cNvPr>
          <p:cNvSpPr txBox="1"/>
          <p:nvPr/>
        </p:nvSpPr>
        <p:spPr>
          <a:xfrm>
            <a:off x="838200" y="5911965"/>
            <a:ext cx="3627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客户可以使用同义词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但我们的表述中不要出现同义词</a:t>
            </a:r>
            <a:endParaRPr lang="zh-CN" altLang="en-US" sz="1100" dirty="0"/>
          </a:p>
        </p:txBody>
      </p:sp>
      <p:pic>
        <p:nvPicPr>
          <p:cNvPr id="7" name="图片 6" descr="电脑游戏的截图&#10;&#10;中度可信度描述已自动生成">
            <a:extLst>
              <a:ext uri="{FF2B5EF4-FFF2-40B4-BE49-F238E27FC236}">
                <a16:creationId xmlns:a16="http://schemas.microsoft.com/office/drawing/2014/main" id="{3DD6D5CE-7AAE-8652-A35D-77FD1FB5E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198" y="688241"/>
            <a:ext cx="6152119" cy="5271571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9791CB06-3A3B-AB20-052E-28D1B00628C1}"/>
              </a:ext>
            </a:extLst>
          </p:cNvPr>
          <p:cNvSpPr/>
          <p:nvPr/>
        </p:nvSpPr>
        <p:spPr>
          <a:xfrm rot="19645330">
            <a:off x="6644396" y="3323016"/>
            <a:ext cx="922777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40C05FC-5ADA-1808-157C-8E756BFF93B3}"/>
              </a:ext>
            </a:extLst>
          </p:cNvPr>
          <p:cNvSpPr/>
          <p:nvPr/>
        </p:nvSpPr>
        <p:spPr>
          <a:xfrm rot="19645330">
            <a:off x="10067832" y="3323015"/>
            <a:ext cx="922777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7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C6D616-E7A0-E862-0B21-DD5CAA8C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79360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重复性</a:t>
            </a:r>
            <a:b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Repeatability</a:t>
            </a:r>
            <a:b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zh-CN" alt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CF22AE-439A-601C-DBA9-5681AD9ABC72}"/>
              </a:ext>
            </a:extLst>
          </p:cNvPr>
          <p:cNvSpPr txBox="1"/>
          <p:nvPr/>
        </p:nvSpPr>
        <p:spPr>
          <a:xfrm>
            <a:off x="838201" y="1952625"/>
            <a:ext cx="4975458" cy="4224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zh-CN" altLang="en-US" sz="1600" dirty="0"/>
              <a:t>测量同一个位置多次时的差异</a:t>
            </a:r>
            <a:endParaRPr lang="en-US" altLang="zh-CN" sz="1600" dirty="0"/>
          </a:p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如果我们将这个概念比作打靶，那么重复性就相当于箭在靶上的聚集程度。如果每次都能打在同一位置，那么我们就说这个编码器的重复性很好。</a:t>
            </a:r>
          </a:p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zh-CN" altLang="en-US" sz="1600" dirty="0"/>
              <a:t>在</a:t>
            </a:r>
            <a:r>
              <a:rPr lang="en-US" altLang="zh-CN" sz="1600" dirty="0"/>
              <a:t>KTH78</a:t>
            </a:r>
            <a:r>
              <a:rPr lang="zh-CN" altLang="en-US" sz="1600" dirty="0"/>
              <a:t>系列磁编传感器中，多次旋转经过固定位置</a:t>
            </a:r>
            <a:r>
              <a:rPr lang="en-US" altLang="zh-CN" sz="1600" dirty="0"/>
              <a:t>(</a:t>
            </a:r>
            <a:r>
              <a:rPr lang="zh-CN" altLang="en-US" sz="1600" dirty="0"/>
              <a:t>比如</a:t>
            </a:r>
            <a:r>
              <a:rPr lang="en-US" altLang="zh-CN" sz="1600" dirty="0"/>
              <a:t>15</a:t>
            </a:r>
            <a:r>
              <a:rPr lang="zh-CN" altLang="en-US" sz="1600" dirty="0"/>
              <a:t>度</a:t>
            </a:r>
            <a:r>
              <a:rPr lang="en-US" altLang="zh-CN" sz="1600" dirty="0"/>
              <a:t>)</a:t>
            </a:r>
            <a:r>
              <a:rPr lang="zh-CN" altLang="en-US" sz="1600" dirty="0"/>
              <a:t>时候</a:t>
            </a:r>
            <a:r>
              <a:rPr lang="en-US" altLang="zh-CN" sz="1600" dirty="0"/>
              <a:t>, </a:t>
            </a:r>
            <a:r>
              <a:rPr lang="zh-CN" altLang="en-US" sz="1600" dirty="0"/>
              <a:t>传感器每次输出间的最大差异</a:t>
            </a:r>
            <a:r>
              <a:rPr lang="en-US" altLang="zh-CN" sz="1600" dirty="0"/>
              <a:t>, </a:t>
            </a:r>
            <a:r>
              <a:rPr lang="zh-CN" altLang="en-US" sz="1600" dirty="0"/>
              <a:t>即重复性</a:t>
            </a:r>
            <a:r>
              <a:rPr lang="en-US" altLang="zh-CN" sz="1600" dirty="0"/>
              <a:t>, </a:t>
            </a:r>
            <a:r>
              <a:rPr lang="zh-CN" altLang="en-US" sz="1600" dirty="0"/>
              <a:t>约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0.086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zh-CN" altLang="en-US" sz="1600" dirty="0"/>
              <a:t>同义词：一致性、测量差异、测量稳定性、重复精度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81538C2-FC5F-3482-6044-AC3FC7B77AB1}"/>
              </a:ext>
            </a:extLst>
          </p:cNvPr>
          <p:cNvSpPr txBox="1"/>
          <p:nvPr/>
        </p:nvSpPr>
        <p:spPr>
          <a:xfrm>
            <a:off x="841112" y="5553192"/>
            <a:ext cx="3627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客户可以使用同义词</a:t>
            </a: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但我们的表述中不要出现同义词</a:t>
            </a:r>
            <a:endParaRPr lang="zh-CN" altLang="en-US" sz="1100" dirty="0"/>
          </a:p>
        </p:txBody>
      </p:sp>
      <p:pic>
        <p:nvPicPr>
          <p:cNvPr id="7" name="图片 6" descr="电脑游戏的截图&#10;&#10;中度可信度描述已自动生成">
            <a:extLst>
              <a:ext uri="{FF2B5EF4-FFF2-40B4-BE49-F238E27FC236}">
                <a16:creationId xmlns:a16="http://schemas.microsoft.com/office/drawing/2014/main" id="{2EF6A18E-F025-942F-8C52-660189072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198" y="688241"/>
            <a:ext cx="6152119" cy="5271571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34E43DE4-CBBE-F75E-3762-93C78EFCE681}"/>
              </a:ext>
            </a:extLst>
          </p:cNvPr>
          <p:cNvSpPr/>
          <p:nvPr/>
        </p:nvSpPr>
        <p:spPr>
          <a:xfrm rot="19645330">
            <a:off x="7674560" y="4007127"/>
            <a:ext cx="935073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69DB538-A0FC-56C3-87AB-F2A1D0C8F5A6}"/>
              </a:ext>
            </a:extLst>
          </p:cNvPr>
          <p:cNvSpPr/>
          <p:nvPr/>
        </p:nvSpPr>
        <p:spPr>
          <a:xfrm rot="19645330">
            <a:off x="7674560" y="4567628"/>
            <a:ext cx="935073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CAAD4D0-5351-4B66-79A9-BCE07A95D1C6}"/>
              </a:ext>
            </a:extLst>
          </p:cNvPr>
          <p:cNvSpPr/>
          <p:nvPr/>
        </p:nvSpPr>
        <p:spPr>
          <a:xfrm rot="19645330">
            <a:off x="10433246" y="4007127"/>
            <a:ext cx="935073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E4C3288-D008-43B5-B99C-567FD8543741}"/>
              </a:ext>
            </a:extLst>
          </p:cNvPr>
          <p:cNvSpPr/>
          <p:nvPr/>
        </p:nvSpPr>
        <p:spPr>
          <a:xfrm rot="19645330">
            <a:off x="10445137" y="4567627"/>
            <a:ext cx="935073" cy="732818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5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C6D616-E7A0-E862-0B21-DD5CAA8C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793605" cy="180052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zh-CN" alt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分辨率 精度 重复性</a:t>
            </a:r>
            <a:b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zh-CN" alt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CF22AE-439A-601C-DBA9-5681AD9ABC72}"/>
              </a:ext>
            </a:extLst>
          </p:cNvPr>
          <p:cNvSpPr txBox="1"/>
          <p:nvPr/>
        </p:nvSpPr>
        <p:spPr>
          <a:xfrm>
            <a:off x="838201" y="1952625"/>
            <a:ext cx="4705951" cy="1313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en-US" altLang="zh-CN" sz="1400" dirty="0"/>
              <a:t>KTH78</a:t>
            </a:r>
            <a:r>
              <a:rPr lang="zh-CN" altLang="en-US" sz="1400" dirty="0"/>
              <a:t>系列产品有多重输出方式</a:t>
            </a:r>
            <a:endParaRPr lang="en-US" altLang="zh-CN" sz="1400" dirty="0"/>
          </a:p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zh-CN" altLang="en-US" sz="1400" dirty="0"/>
              <a:t>根据参数不同</a:t>
            </a:r>
            <a:r>
              <a:rPr lang="en-US" altLang="zh-CN" sz="1400" dirty="0"/>
              <a:t>, </a:t>
            </a:r>
            <a:r>
              <a:rPr lang="zh-CN" altLang="en-US" sz="1400" dirty="0"/>
              <a:t>分辨率和精度会发生变化</a:t>
            </a:r>
            <a:r>
              <a:rPr lang="en-US" altLang="zh-CN" sz="1400" dirty="0"/>
              <a:t>.</a:t>
            </a:r>
          </a:p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zh-CN" altLang="en-US" sz="1400" dirty="0"/>
              <a:t>一般客户定义的指标是通过</a:t>
            </a:r>
            <a:r>
              <a:rPr lang="en-US" altLang="zh-CN" sz="1400" dirty="0"/>
              <a:t>SPI </a:t>
            </a:r>
            <a:r>
              <a:rPr lang="zh-CN" altLang="en-US" sz="1400" dirty="0"/>
              <a:t>和 </a:t>
            </a:r>
            <a:r>
              <a:rPr lang="en-US" altLang="zh-CN" sz="1400" dirty="0"/>
              <a:t>ABZ</a:t>
            </a:r>
            <a:r>
              <a:rPr lang="zh-CN" altLang="en-US" sz="1400" dirty="0"/>
              <a:t>输出定义的</a:t>
            </a:r>
            <a:endParaRPr lang="en-US" altLang="zh-CN" sz="14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70F2F9B-A4BD-0D59-402A-C72C1B5F1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14854"/>
              </p:ext>
            </p:extLst>
          </p:nvPr>
        </p:nvGraphicFramePr>
        <p:xfrm>
          <a:off x="923926" y="3495199"/>
          <a:ext cx="4600574" cy="16459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07763">
                  <a:extLst>
                    <a:ext uri="{9D8B030D-6E8A-4147-A177-3AD203B41FA5}">
                      <a16:colId xmlns:a16="http://schemas.microsoft.com/office/drawing/2014/main" val="428936433"/>
                    </a:ext>
                  </a:extLst>
                </a:gridCol>
                <a:gridCol w="1811316">
                  <a:extLst>
                    <a:ext uri="{9D8B030D-6E8A-4147-A177-3AD203B41FA5}">
                      <a16:colId xmlns:a16="http://schemas.microsoft.com/office/drawing/2014/main" val="2964482851"/>
                    </a:ext>
                  </a:extLst>
                </a:gridCol>
                <a:gridCol w="2281495">
                  <a:extLst>
                    <a:ext uri="{9D8B030D-6E8A-4147-A177-3AD203B41FA5}">
                      <a16:colId xmlns:a16="http://schemas.microsoft.com/office/drawing/2014/main" val="1463174015"/>
                    </a:ext>
                  </a:extLst>
                </a:gridCol>
              </a:tblGrid>
              <a:tr h="346704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分辨率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精度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452394"/>
                  </a:ext>
                </a:extLst>
              </a:tr>
              <a:tr h="3467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SPI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zh-CN" altLang="en-US" sz="1200" dirty="0"/>
                        <a:t> 或者 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endParaRPr lang="en-US" altLang="zh-CN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0.088</a:t>
                      </a:r>
                      <a:r>
                        <a:rPr lang="zh-CN" altLang="en-US" sz="1200" b="1" dirty="0">
                          <a:solidFill>
                            <a:srgbClr val="FF0000"/>
                          </a:solidFill>
                        </a:rPr>
                        <a:t>度 </a:t>
                      </a:r>
                      <a:r>
                        <a:rPr lang="zh-CN" altLang="en-US" sz="1200" dirty="0"/>
                        <a:t>或者 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0.0055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度</a:t>
                      </a:r>
                      <a:endParaRPr lang="en-US" altLang="zh-CN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1200" dirty="0"/>
                        <a:t>只有两档可选</a:t>
                      </a:r>
                      <a:endParaRPr lang="en-US" altLang="zh-C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最高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200" dirty="0"/>
                        <a:t>, 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±0.022°</a:t>
                      </a:r>
                    </a:p>
                    <a:p>
                      <a:pPr algn="ctr"/>
                      <a:r>
                        <a:rPr lang="zh-CN" altLang="en-US" sz="1200" dirty="0"/>
                        <a:t>主要受滤波器和运行环境影响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03862"/>
                  </a:ext>
                </a:extLst>
              </a:tr>
              <a:tr h="3467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ABZ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位 </a:t>
                      </a:r>
                      <a:r>
                        <a:rPr lang="zh-CN" altLang="en-US" sz="1200" dirty="0"/>
                        <a:t>到 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endParaRPr lang="en-US" altLang="zh-CN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1200" dirty="0"/>
                        <a:t>即</a:t>
                      </a:r>
                      <a:r>
                        <a:rPr lang="en-US" altLang="zh-CN" sz="1200" dirty="0"/>
                        <a:t>9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度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200" dirty="0"/>
                        <a:t>到 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0.35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度</a:t>
                      </a:r>
                      <a:endParaRPr lang="en-US" altLang="zh-CN" sz="12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1200" dirty="0"/>
                        <a:t>之间数值都可以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最高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lang="zh-CN" altLang="en-US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200" dirty="0"/>
                        <a:t>, </a:t>
                      </a:r>
                      <a:r>
                        <a:rPr lang="en-US" altLang="zh-CN" sz="12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±0.022°</a:t>
                      </a:r>
                    </a:p>
                    <a:p>
                      <a:pPr algn="ctr"/>
                      <a:r>
                        <a:rPr lang="zh-CN" altLang="en-US" sz="1200" dirty="0"/>
                        <a:t>主要受滤波器和运行环境影响</a:t>
                      </a:r>
                    </a:p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78913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D99789BF-5F15-5836-79DA-F7B44C178B31}"/>
              </a:ext>
            </a:extLst>
          </p:cNvPr>
          <p:cNvSpPr txBox="1"/>
          <p:nvPr/>
        </p:nvSpPr>
        <p:spPr>
          <a:xfrm>
            <a:off x="990601" y="5553192"/>
            <a:ext cx="4705951" cy="5111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70000"/>
              </a:lnSpc>
              <a:spcAft>
                <a:spcPts val="600"/>
              </a:spcAft>
            </a:pPr>
            <a:r>
              <a:rPr lang="zh-CN" altLang="en-US" sz="1400" dirty="0"/>
              <a:t>重复性一般受物理环境影响</a:t>
            </a:r>
            <a:r>
              <a:rPr lang="en-US" altLang="zh-CN" sz="1400" dirty="0"/>
              <a:t>, </a:t>
            </a:r>
            <a:r>
              <a:rPr lang="zh-CN" altLang="en-US" sz="1400" dirty="0"/>
              <a:t>不可调</a:t>
            </a:r>
            <a:endParaRPr lang="en-US" altLang="zh-CN" sz="1400" dirty="0"/>
          </a:p>
        </p:txBody>
      </p:sp>
      <p:pic>
        <p:nvPicPr>
          <p:cNvPr id="13" name="图片 12" descr="电脑游戏的截图&#10;&#10;中度可信度描述已自动生成">
            <a:extLst>
              <a:ext uri="{FF2B5EF4-FFF2-40B4-BE49-F238E27FC236}">
                <a16:creationId xmlns:a16="http://schemas.microsoft.com/office/drawing/2014/main" id="{2412903B-AF83-B25C-719A-247EE7D07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198" y="688241"/>
            <a:ext cx="6152119" cy="527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46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9C7C25-2874-7200-B4B0-00D9D776D4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326"/>
          <a:stretch/>
        </p:blipFill>
        <p:spPr>
          <a:xfrm rot="21082628">
            <a:off x="-200024" y="-163352"/>
            <a:ext cx="5916326" cy="743235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FEFCD76-3AD5-EE74-F8B1-872CB5EDCE71}"/>
              </a:ext>
            </a:extLst>
          </p:cNvPr>
          <p:cNvSpPr txBox="1"/>
          <p:nvPr/>
        </p:nvSpPr>
        <p:spPr>
          <a:xfrm>
            <a:off x="7225096" y="2274838"/>
            <a:ext cx="48335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ABZ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的角度都来自滤波器输出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角度相同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内部的精度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分辨率和重复性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是一致的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ABZ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SSI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会根据型号和参数设置 改变输出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分辨率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重复性一般不变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729E97E-45B7-357A-5079-A1E0EF179FB3}"/>
              </a:ext>
            </a:extLst>
          </p:cNvPr>
          <p:cNvSpPr/>
          <p:nvPr/>
        </p:nvSpPr>
        <p:spPr>
          <a:xfrm>
            <a:off x="2510489" y="1771173"/>
            <a:ext cx="495300" cy="1838325"/>
          </a:xfrm>
          <a:prstGeom prst="roundRect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E698C2-15C8-1AE7-FE7C-3F702288EC5A}"/>
              </a:ext>
            </a:extLst>
          </p:cNvPr>
          <p:cNvSpPr/>
          <p:nvPr/>
        </p:nvSpPr>
        <p:spPr>
          <a:xfrm>
            <a:off x="1733550" y="3858101"/>
            <a:ext cx="495300" cy="809625"/>
          </a:xfrm>
          <a:prstGeom prst="roundRect">
            <a:avLst/>
          </a:prstGeom>
          <a:solidFill>
            <a:srgbClr val="FF00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D850AA81-EC1F-DFF7-8F8A-A6FC09FE7D91}"/>
              </a:ext>
            </a:extLst>
          </p:cNvPr>
          <p:cNvSpPr/>
          <p:nvPr/>
        </p:nvSpPr>
        <p:spPr>
          <a:xfrm>
            <a:off x="3005789" y="2497215"/>
            <a:ext cx="4087832" cy="386240"/>
          </a:xfrm>
          <a:prstGeom prst="rightArrow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D18178C-8AA3-91B6-BA84-77FCC9F0A483}"/>
              </a:ext>
            </a:extLst>
          </p:cNvPr>
          <p:cNvSpPr/>
          <p:nvPr/>
        </p:nvSpPr>
        <p:spPr>
          <a:xfrm>
            <a:off x="2228850" y="3998609"/>
            <a:ext cx="4864771" cy="386240"/>
          </a:xfrm>
          <a:prstGeom prst="rightArrow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EF1A78-FC27-7EEF-ADEE-E71664A8333E}"/>
              </a:ext>
            </a:extLst>
          </p:cNvPr>
          <p:cNvSpPr/>
          <p:nvPr/>
        </p:nvSpPr>
        <p:spPr>
          <a:xfrm>
            <a:off x="7093621" y="1981200"/>
            <a:ext cx="45719" cy="3155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898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核心指标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系统延迟</a:t>
            </a:r>
            <a:r>
              <a:rPr lang="en-US" altLang="zh-CN" dirty="0"/>
              <a:t>/</a:t>
            </a:r>
            <a:r>
              <a:rPr lang="zh-CN" altLang="en-US" dirty="0"/>
              <a:t>截止频率</a:t>
            </a:r>
          </a:p>
        </p:txBody>
      </p:sp>
    </p:spTree>
    <p:extLst>
      <p:ext uri="{BB962C8B-B14F-4D97-AF65-F5344CB8AC3E}">
        <p14:creationId xmlns:p14="http://schemas.microsoft.com/office/powerpoint/2010/main" val="4089824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241EDB5C-94A7-B520-A441-3EEBB87E8F21}"/>
              </a:ext>
            </a:extLst>
          </p:cNvPr>
          <p:cNvSpPr/>
          <p:nvPr/>
        </p:nvSpPr>
        <p:spPr>
          <a:xfrm>
            <a:off x="5676900" y="5761614"/>
            <a:ext cx="8020050" cy="357187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4018491-19D6-19E2-17F3-6EF02F510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600" dirty="0">
                <a:solidFill>
                  <a:srgbClr val="C00000"/>
                </a:solidFill>
              </a:rPr>
              <a:t>系统延迟</a:t>
            </a:r>
            <a:r>
              <a:rPr lang="zh-CN" altLang="en-US" sz="3600" dirty="0"/>
              <a:t>的两种定义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A3F3FF-9568-6BA7-D582-2CF56E496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881" y="4421762"/>
            <a:ext cx="4983480" cy="147747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400" dirty="0"/>
              <a:t>信号从磁场信号输入到传感器输出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传输时间</a:t>
            </a:r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1400" dirty="0"/>
              <a:t>对于有滤波器的系统</a:t>
            </a: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/>
              <a:t>传输时间远远小于时间参数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r>
              <a:rPr lang="zh-CN" altLang="en-US" sz="1400" dirty="0">
                <a:solidFill>
                  <a:schemeClr val="bg1"/>
                </a:solidFill>
              </a:rPr>
              <a:t>       对外没有事先约定的情况下 </a:t>
            </a:r>
            <a:r>
              <a:rPr lang="zh-CN" altLang="en-US" sz="1400" dirty="0">
                <a:solidFill>
                  <a:srgbClr val="FF0000"/>
                </a:solidFill>
              </a:rPr>
              <a:t>系统延迟</a:t>
            </a:r>
            <a:r>
              <a:rPr lang="en-US" altLang="zh-CN" sz="1400" dirty="0">
                <a:solidFill>
                  <a:srgbClr val="FF0000"/>
                </a:solidFill>
              </a:rPr>
              <a:t>=</a:t>
            </a:r>
            <a:r>
              <a:rPr lang="zh-CN" altLang="en-US" sz="1400" dirty="0">
                <a:solidFill>
                  <a:srgbClr val="FF0000"/>
                </a:solidFill>
              </a:rPr>
              <a:t>传输时间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441C27-B0D3-EC66-4B97-65912FCF8946}"/>
              </a:ext>
            </a:extLst>
          </p:cNvPr>
          <p:cNvSpPr txBox="1">
            <a:spLocks/>
          </p:cNvSpPr>
          <p:nvPr/>
        </p:nvSpPr>
        <p:spPr>
          <a:xfrm>
            <a:off x="836297" y="4269949"/>
            <a:ext cx="4686300" cy="2867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/>
              <a:t>磁场信号从</a:t>
            </a:r>
            <a:r>
              <a:rPr lang="en-US" altLang="zh-CN" sz="1400" dirty="0"/>
              <a:t>0</a:t>
            </a:r>
            <a:r>
              <a:rPr lang="zh-CN" altLang="en-US" sz="1400" dirty="0"/>
              <a:t>跳到</a:t>
            </a:r>
            <a:r>
              <a:rPr lang="en-US" altLang="zh-CN" sz="1400" dirty="0"/>
              <a:t>180</a:t>
            </a:r>
            <a:r>
              <a:rPr lang="zh-CN" altLang="en-US" sz="1400" dirty="0"/>
              <a:t>度</a:t>
            </a:r>
            <a:endParaRPr lang="en-US" altLang="zh-CN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/>
              <a:t>传感器输出从</a:t>
            </a:r>
            <a:r>
              <a:rPr lang="en-US" altLang="zh-CN" sz="1400" dirty="0"/>
              <a:t>0</a:t>
            </a:r>
            <a:r>
              <a:rPr lang="zh-CN" altLang="en-US" sz="1400" dirty="0"/>
              <a:t>度到稳定输出</a:t>
            </a:r>
            <a:r>
              <a:rPr lang="en-US" altLang="zh-CN" sz="1400" dirty="0"/>
              <a:t>180</a:t>
            </a:r>
            <a:r>
              <a:rPr lang="zh-CN" altLang="en-US" sz="1400" dirty="0"/>
              <a:t>度需要的时间</a:t>
            </a:r>
            <a:endParaRPr lang="en-US" altLang="zh-CN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/>
              <a:t>一般被称为</a:t>
            </a:r>
            <a:r>
              <a:rPr lang="zh-CN" alt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时间常数</a:t>
            </a:r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/>
              <a:t>受滤波器设置影响比较大</a:t>
            </a:r>
            <a:r>
              <a:rPr lang="en-US" altLang="zh-CN" sz="14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50" dirty="0"/>
              <a:t>噪声小</a:t>
            </a:r>
            <a:r>
              <a:rPr lang="en-US" altLang="zh-CN" sz="1050" dirty="0"/>
              <a:t>, </a:t>
            </a:r>
            <a:r>
              <a:rPr lang="zh-CN" altLang="en-US" sz="1050" dirty="0"/>
              <a:t>时间常数大</a:t>
            </a:r>
            <a:endParaRPr lang="en-US" altLang="zh-CN" sz="105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050" dirty="0"/>
              <a:t>噪声大</a:t>
            </a:r>
            <a:r>
              <a:rPr lang="en-US" altLang="zh-CN" sz="1050" dirty="0"/>
              <a:t>, </a:t>
            </a:r>
            <a:r>
              <a:rPr lang="zh-CN" altLang="en-US" sz="1050" dirty="0"/>
              <a:t>时间常数小 </a:t>
            </a:r>
            <a:endParaRPr lang="en-US" altLang="zh-CN" sz="105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4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7B47B15-BFE1-ABA5-4CDD-7B57930AB96D}"/>
              </a:ext>
            </a:extLst>
          </p:cNvPr>
          <p:cNvGrpSpPr/>
          <p:nvPr/>
        </p:nvGrpSpPr>
        <p:grpSpPr>
          <a:xfrm>
            <a:off x="965837" y="1270688"/>
            <a:ext cx="3017521" cy="2645992"/>
            <a:chOff x="7056119" y="1324028"/>
            <a:chExt cx="3901440" cy="3193678"/>
          </a:xfrm>
        </p:grpSpPr>
        <p:pic>
          <p:nvPicPr>
            <p:cNvPr id="2050" name="Picture 2" descr="undefined">
              <a:extLst>
                <a:ext uri="{FF2B5EF4-FFF2-40B4-BE49-F238E27FC236}">
                  <a16:creationId xmlns:a16="http://schemas.microsoft.com/office/drawing/2014/main" id="{CBFAF6B2-52A6-2A42-9F52-2BD3518E50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640" r="21599"/>
            <a:stretch/>
          </p:blipFill>
          <p:spPr bwMode="auto">
            <a:xfrm>
              <a:off x="8465385" y="1404570"/>
              <a:ext cx="2197635" cy="30956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838E564-18ED-BD0B-605E-117E36976CB0}"/>
                </a:ext>
              </a:extLst>
            </p:cNvPr>
            <p:cNvSpPr txBox="1"/>
            <p:nvPr/>
          </p:nvSpPr>
          <p:spPr>
            <a:xfrm>
              <a:off x="8762999" y="4148374"/>
              <a:ext cx="19933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时间常数</a:t>
              </a:r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7E87B0C-C906-269A-994F-52189154A8D7}"/>
                </a:ext>
              </a:extLst>
            </p:cNvPr>
            <p:cNvSpPr/>
            <p:nvPr/>
          </p:nvSpPr>
          <p:spPr>
            <a:xfrm>
              <a:off x="7056119" y="1324028"/>
              <a:ext cx="3901440" cy="670560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solidFill>
                    <a:schemeClr val="tx1"/>
                  </a:solidFill>
                </a:rPr>
                <a:t>传感器输入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89DAA09-44A3-FB64-02FB-EB6599799AF8}"/>
                </a:ext>
              </a:extLst>
            </p:cNvPr>
            <p:cNvSpPr/>
            <p:nvPr/>
          </p:nvSpPr>
          <p:spPr>
            <a:xfrm>
              <a:off x="7056119" y="2145837"/>
              <a:ext cx="3901440" cy="108750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solidFill>
                    <a:schemeClr val="tx1"/>
                  </a:solidFill>
                </a:rPr>
                <a:t>传感器输出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FA49B09A-5753-7642-6E50-D9E80E8FE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50175" y="1096386"/>
            <a:ext cx="4106165" cy="2820294"/>
          </a:xfrm>
          <a:prstGeom prst="rect">
            <a:avLst/>
          </a:prstGeom>
        </p:spPr>
      </p:pic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02F0B079-7A65-DA78-B1B6-5B43B91F8CED}"/>
              </a:ext>
            </a:extLst>
          </p:cNvPr>
          <p:cNvSpPr/>
          <p:nvPr/>
        </p:nvSpPr>
        <p:spPr>
          <a:xfrm>
            <a:off x="7044981" y="2160904"/>
            <a:ext cx="3444240" cy="1036320"/>
          </a:xfrm>
          <a:custGeom>
            <a:avLst/>
            <a:gdLst>
              <a:gd name="connsiteX0" fmla="*/ 0 w 3444240"/>
              <a:gd name="connsiteY0" fmla="*/ 121920 h 1036320"/>
              <a:gd name="connsiteX1" fmla="*/ 38100 w 3444240"/>
              <a:gd name="connsiteY1" fmla="*/ 137160 h 1036320"/>
              <a:gd name="connsiteX2" fmla="*/ 525780 w 3444240"/>
              <a:gd name="connsiteY2" fmla="*/ 152400 h 1036320"/>
              <a:gd name="connsiteX3" fmla="*/ 861060 w 3444240"/>
              <a:gd name="connsiteY3" fmla="*/ 129540 h 1036320"/>
              <a:gd name="connsiteX4" fmla="*/ 876300 w 3444240"/>
              <a:gd name="connsiteY4" fmla="*/ 99060 h 1036320"/>
              <a:gd name="connsiteX5" fmla="*/ 914400 w 3444240"/>
              <a:gd name="connsiteY5" fmla="*/ 91440 h 1036320"/>
              <a:gd name="connsiteX6" fmla="*/ 1005840 w 3444240"/>
              <a:gd name="connsiteY6" fmla="*/ 60960 h 1036320"/>
              <a:gd name="connsiteX7" fmla="*/ 1082040 w 3444240"/>
              <a:gd name="connsiteY7" fmla="*/ 22860 h 1036320"/>
              <a:gd name="connsiteX8" fmla="*/ 1318260 w 3444240"/>
              <a:gd name="connsiteY8" fmla="*/ 0 h 1036320"/>
              <a:gd name="connsiteX9" fmla="*/ 1546860 w 3444240"/>
              <a:gd name="connsiteY9" fmla="*/ 15240 h 1036320"/>
              <a:gd name="connsiteX10" fmla="*/ 1684020 w 3444240"/>
              <a:gd name="connsiteY10" fmla="*/ 68580 h 1036320"/>
              <a:gd name="connsiteX11" fmla="*/ 1714500 w 3444240"/>
              <a:gd name="connsiteY11" fmla="*/ 76200 h 1036320"/>
              <a:gd name="connsiteX12" fmla="*/ 1844040 w 3444240"/>
              <a:gd name="connsiteY12" fmla="*/ 144780 h 1036320"/>
              <a:gd name="connsiteX13" fmla="*/ 1965960 w 3444240"/>
              <a:gd name="connsiteY13" fmla="*/ 182880 h 1036320"/>
              <a:gd name="connsiteX14" fmla="*/ 2072640 w 3444240"/>
              <a:gd name="connsiteY14" fmla="*/ 137160 h 1036320"/>
              <a:gd name="connsiteX15" fmla="*/ 2171700 w 3444240"/>
              <a:gd name="connsiteY15" fmla="*/ 121920 h 1036320"/>
              <a:gd name="connsiteX16" fmla="*/ 2202180 w 3444240"/>
              <a:gd name="connsiteY16" fmla="*/ 106680 h 1036320"/>
              <a:gd name="connsiteX17" fmla="*/ 2308860 w 3444240"/>
              <a:gd name="connsiteY17" fmla="*/ 99060 h 1036320"/>
              <a:gd name="connsiteX18" fmla="*/ 2354580 w 3444240"/>
              <a:gd name="connsiteY18" fmla="*/ 198120 h 1036320"/>
              <a:gd name="connsiteX19" fmla="*/ 2346960 w 3444240"/>
              <a:gd name="connsiteY19" fmla="*/ 274320 h 1036320"/>
              <a:gd name="connsiteX20" fmla="*/ 2278380 w 3444240"/>
              <a:gd name="connsiteY20" fmla="*/ 373380 h 1036320"/>
              <a:gd name="connsiteX21" fmla="*/ 2255520 w 3444240"/>
              <a:gd name="connsiteY21" fmla="*/ 403860 h 1036320"/>
              <a:gd name="connsiteX22" fmla="*/ 2240280 w 3444240"/>
              <a:gd name="connsiteY22" fmla="*/ 441960 h 1036320"/>
              <a:gd name="connsiteX23" fmla="*/ 2209800 w 3444240"/>
              <a:gd name="connsiteY23" fmla="*/ 502920 h 1036320"/>
              <a:gd name="connsiteX24" fmla="*/ 2179320 w 3444240"/>
              <a:gd name="connsiteY24" fmla="*/ 601980 h 1036320"/>
              <a:gd name="connsiteX25" fmla="*/ 2171700 w 3444240"/>
              <a:gd name="connsiteY25" fmla="*/ 701040 h 1036320"/>
              <a:gd name="connsiteX26" fmla="*/ 2186940 w 3444240"/>
              <a:gd name="connsiteY26" fmla="*/ 944880 h 1036320"/>
              <a:gd name="connsiteX27" fmla="*/ 2209800 w 3444240"/>
              <a:gd name="connsiteY27" fmla="*/ 982980 h 1036320"/>
              <a:gd name="connsiteX28" fmla="*/ 2247900 w 3444240"/>
              <a:gd name="connsiteY28" fmla="*/ 1013460 h 1036320"/>
              <a:gd name="connsiteX29" fmla="*/ 2308860 w 3444240"/>
              <a:gd name="connsiteY29" fmla="*/ 1036320 h 1036320"/>
              <a:gd name="connsiteX30" fmla="*/ 2377440 w 3444240"/>
              <a:gd name="connsiteY30" fmla="*/ 1028700 h 1036320"/>
              <a:gd name="connsiteX31" fmla="*/ 2430780 w 3444240"/>
              <a:gd name="connsiteY31" fmla="*/ 1021080 h 1036320"/>
              <a:gd name="connsiteX32" fmla="*/ 2506980 w 3444240"/>
              <a:gd name="connsiteY32" fmla="*/ 937260 h 1036320"/>
              <a:gd name="connsiteX33" fmla="*/ 2514600 w 3444240"/>
              <a:gd name="connsiteY33" fmla="*/ 914400 h 1036320"/>
              <a:gd name="connsiteX34" fmla="*/ 2644140 w 3444240"/>
              <a:gd name="connsiteY34" fmla="*/ 822960 h 1036320"/>
              <a:gd name="connsiteX35" fmla="*/ 2880360 w 3444240"/>
              <a:gd name="connsiteY35" fmla="*/ 876300 h 1036320"/>
              <a:gd name="connsiteX36" fmla="*/ 3048000 w 3444240"/>
              <a:gd name="connsiteY36" fmla="*/ 914400 h 1036320"/>
              <a:gd name="connsiteX37" fmla="*/ 3139440 w 3444240"/>
              <a:gd name="connsiteY37" fmla="*/ 861060 h 1036320"/>
              <a:gd name="connsiteX38" fmla="*/ 3154680 w 3444240"/>
              <a:gd name="connsiteY38" fmla="*/ 838200 h 1036320"/>
              <a:gd name="connsiteX39" fmla="*/ 3177540 w 3444240"/>
              <a:gd name="connsiteY39" fmla="*/ 822960 h 1036320"/>
              <a:gd name="connsiteX40" fmla="*/ 3208020 w 3444240"/>
              <a:gd name="connsiteY40" fmla="*/ 800100 h 1036320"/>
              <a:gd name="connsiteX41" fmla="*/ 3238500 w 3444240"/>
              <a:gd name="connsiteY41" fmla="*/ 792480 h 1036320"/>
              <a:gd name="connsiteX42" fmla="*/ 3329940 w 3444240"/>
              <a:gd name="connsiteY42" fmla="*/ 762000 h 1036320"/>
              <a:gd name="connsiteX43" fmla="*/ 3413760 w 3444240"/>
              <a:gd name="connsiteY43" fmla="*/ 723900 h 1036320"/>
              <a:gd name="connsiteX44" fmla="*/ 3444240 w 3444240"/>
              <a:gd name="connsiteY44" fmla="*/ 701040 h 103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444240" h="1036320">
                <a:moveTo>
                  <a:pt x="0" y="121920"/>
                </a:moveTo>
                <a:cubicBezTo>
                  <a:pt x="12700" y="127000"/>
                  <a:pt x="24608" y="134911"/>
                  <a:pt x="38100" y="137160"/>
                </a:cubicBezTo>
                <a:cubicBezTo>
                  <a:pt x="256884" y="173624"/>
                  <a:pt x="273283" y="158874"/>
                  <a:pt x="525780" y="152400"/>
                </a:cubicBezTo>
                <a:cubicBezTo>
                  <a:pt x="637540" y="144780"/>
                  <a:pt x="750315" y="146392"/>
                  <a:pt x="861060" y="129540"/>
                </a:cubicBezTo>
                <a:cubicBezTo>
                  <a:pt x="872290" y="127831"/>
                  <a:pt x="867057" y="105662"/>
                  <a:pt x="876300" y="99060"/>
                </a:cubicBezTo>
                <a:cubicBezTo>
                  <a:pt x="886839" y="91532"/>
                  <a:pt x="901975" y="95094"/>
                  <a:pt x="914400" y="91440"/>
                </a:cubicBezTo>
                <a:cubicBezTo>
                  <a:pt x="945223" y="82374"/>
                  <a:pt x="976103" y="73125"/>
                  <a:pt x="1005840" y="60960"/>
                </a:cubicBezTo>
                <a:cubicBezTo>
                  <a:pt x="1032124" y="50208"/>
                  <a:pt x="1055236" y="32241"/>
                  <a:pt x="1082040" y="22860"/>
                </a:cubicBezTo>
                <a:cubicBezTo>
                  <a:pt x="1146828" y="184"/>
                  <a:pt x="1263843" y="2591"/>
                  <a:pt x="1318260" y="0"/>
                </a:cubicBezTo>
                <a:cubicBezTo>
                  <a:pt x="1394460" y="5080"/>
                  <a:pt x="1471799" y="1166"/>
                  <a:pt x="1546860" y="15240"/>
                </a:cubicBezTo>
                <a:cubicBezTo>
                  <a:pt x="1595075" y="24280"/>
                  <a:pt x="1636429" y="56682"/>
                  <a:pt x="1684020" y="68580"/>
                </a:cubicBezTo>
                <a:lnTo>
                  <a:pt x="1714500" y="76200"/>
                </a:lnTo>
                <a:cubicBezTo>
                  <a:pt x="1742276" y="92072"/>
                  <a:pt x="1819167" y="137318"/>
                  <a:pt x="1844040" y="144780"/>
                </a:cubicBezTo>
                <a:cubicBezTo>
                  <a:pt x="1935627" y="172256"/>
                  <a:pt x="1895082" y="159254"/>
                  <a:pt x="1965960" y="182880"/>
                </a:cubicBezTo>
                <a:cubicBezTo>
                  <a:pt x="1999952" y="165884"/>
                  <a:pt x="2036364" y="146623"/>
                  <a:pt x="2072640" y="137160"/>
                </a:cubicBezTo>
                <a:cubicBezTo>
                  <a:pt x="2104967" y="128727"/>
                  <a:pt x="2138680" y="127000"/>
                  <a:pt x="2171700" y="121920"/>
                </a:cubicBezTo>
                <a:cubicBezTo>
                  <a:pt x="2181860" y="116840"/>
                  <a:pt x="2190975" y="108547"/>
                  <a:pt x="2202180" y="106680"/>
                </a:cubicBezTo>
                <a:cubicBezTo>
                  <a:pt x="2237346" y="100819"/>
                  <a:pt x="2275633" y="86139"/>
                  <a:pt x="2308860" y="99060"/>
                </a:cubicBezTo>
                <a:cubicBezTo>
                  <a:pt x="2317528" y="102431"/>
                  <a:pt x="2347718" y="180966"/>
                  <a:pt x="2354580" y="198120"/>
                </a:cubicBezTo>
                <a:cubicBezTo>
                  <a:pt x="2352040" y="223520"/>
                  <a:pt x="2357138" y="250910"/>
                  <a:pt x="2346960" y="274320"/>
                </a:cubicBezTo>
                <a:cubicBezTo>
                  <a:pt x="2330947" y="311150"/>
                  <a:pt x="2301540" y="340570"/>
                  <a:pt x="2278380" y="373380"/>
                </a:cubicBezTo>
                <a:cubicBezTo>
                  <a:pt x="2271056" y="383755"/>
                  <a:pt x="2260237" y="392068"/>
                  <a:pt x="2255520" y="403860"/>
                </a:cubicBezTo>
                <a:cubicBezTo>
                  <a:pt x="2250440" y="416560"/>
                  <a:pt x="2246012" y="429541"/>
                  <a:pt x="2240280" y="441960"/>
                </a:cubicBezTo>
                <a:cubicBezTo>
                  <a:pt x="2230760" y="462587"/>
                  <a:pt x="2217888" y="481690"/>
                  <a:pt x="2209800" y="502920"/>
                </a:cubicBezTo>
                <a:cubicBezTo>
                  <a:pt x="2197501" y="535204"/>
                  <a:pt x="2189480" y="568960"/>
                  <a:pt x="2179320" y="601980"/>
                </a:cubicBezTo>
                <a:cubicBezTo>
                  <a:pt x="2176780" y="635000"/>
                  <a:pt x="2174060" y="668007"/>
                  <a:pt x="2171700" y="701040"/>
                </a:cubicBezTo>
                <a:cubicBezTo>
                  <a:pt x="2163475" y="816192"/>
                  <a:pt x="2154790" y="826996"/>
                  <a:pt x="2186940" y="944880"/>
                </a:cubicBezTo>
                <a:cubicBezTo>
                  <a:pt x="2190837" y="959169"/>
                  <a:pt x="2199960" y="971910"/>
                  <a:pt x="2209800" y="982980"/>
                </a:cubicBezTo>
                <a:cubicBezTo>
                  <a:pt x="2220605" y="995136"/>
                  <a:pt x="2234368" y="1004438"/>
                  <a:pt x="2247900" y="1013460"/>
                </a:cubicBezTo>
                <a:cubicBezTo>
                  <a:pt x="2271808" y="1029399"/>
                  <a:pt x="2282055" y="1029619"/>
                  <a:pt x="2308860" y="1036320"/>
                </a:cubicBezTo>
                <a:lnTo>
                  <a:pt x="2377440" y="1028700"/>
                </a:lnTo>
                <a:cubicBezTo>
                  <a:pt x="2395262" y="1026472"/>
                  <a:pt x="2414966" y="1029595"/>
                  <a:pt x="2430780" y="1021080"/>
                </a:cubicBezTo>
                <a:cubicBezTo>
                  <a:pt x="2450884" y="1010255"/>
                  <a:pt x="2491044" y="957179"/>
                  <a:pt x="2506980" y="937260"/>
                </a:cubicBezTo>
                <a:cubicBezTo>
                  <a:pt x="2509520" y="929640"/>
                  <a:pt x="2509172" y="920321"/>
                  <a:pt x="2514600" y="914400"/>
                </a:cubicBezTo>
                <a:cubicBezTo>
                  <a:pt x="2579070" y="844069"/>
                  <a:pt x="2574170" y="852947"/>
                  <a:pt x="2644140" y="822960"/>
                </a:cubicBezTo>
                <a:cubicBezTo>
                  <a:pt x="2930633" y="873518"/>
                  <a:pt x="2629857" y="815834"/>
                  <a:pt x="2880360" y="876300"/>
                </a:cubicBezTo>
                <a:cubicBezTo>
                  <a:pt x="3136396" y="938102"/>
                  <a:pt x="2898476" y="871679"/>
                  <a:pt x="3048000" y="914400"/>
                </a:cubicBezTo>
                <a:cubicBezTo>
                  <a:pt x="3094140" y="894626"/>
                  <a:pt x="3104857" y="895643"/>
                  <a:pt x="3139440" y="861060"/>
                </a:cubicBezTo>
                <a:cubicBezTo>
                  <a:pt x="3145916" y="854584"/>
                  <a:pt x="3148204" y="844676"/>
                  <a:pt x="3154680" y="838200"/>
                </a:cubicBezTo>
                <a:cubicBezTo>
                  <a:pt x="3161156" y="831724"/>
                  <a:pt x="3170088" y="828283"/>
                  <a:pt x="3177540" y="822960"/>
                </a:cubicBezTo>
                <a:cubicBezTo>
                  <a:pt x="3187874" y="815578"/>
                  <a:pt x="3196661" y="805780"/>
                  <a:pt x="3208020" y="800100"/>
                </a:cubicBezTo>
                <a:cubicBezTo>
                  <a:pt x="3217387" y="795416"/>
                  <a:pt x="3228396" y="795236"/>
                  <a:pt x="3238500" y="792480"/>
                </a:cubicBezTo>
                <a:cubicBezTo>
                  <a:pt x="3298207" y="776196"/>
                  <a:pt x="3279690" y="782100"/>
                  <a:pt x="3329940" y="762000"/>
                </a:cubicBezTo>
                <a:cubicBezTo>
                  <a:pt x="3378108" y="713832"/>
                  <a:pt x="3321941" y="762158"/>
                  <a:pt x="3413760" y="723900"/>
                </a:cubicBezTo>
                <a:cubicBezTo>
                  <a:pt x="3425483" y="719015"/>
                  <a:pt x="3444240" y="701040"/>
                  <a:pt x="3444240" y="701040"/>
                </a:cubicBezTo>
              </a:path>
            </a:pathLst>
          </a:custGeom>
          <a:noFill/>
          <a:ln w="38100">
            <a:solidFill>
              <a:srgbClr val="FF0000"/>
            </a:solidFill>
          </a:ln>
          <a:effectLst>
            <a:glow rad="101600">
              <a:schemeClr val="bg1"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13E44C-67E8-A2F4-652F-4EB05B5F6C1E}"/>
              </a:ext>
            </a:extLst>
          </p:cNvPr>
          <p:cNvSpPr txBox="1"/>
          <p:nvPr/>
        </p:nvSpPr>
        <p:spPr>
          <a:xfrm>
            <a:off x="6052318" y="2205485"/>
            <a:ext cx="9164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FF0000"/>
                </a:solidFill>
              </a:rPr>
              <a:t>磁场信号输入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BDFECA2-FB7E-71C2-A79F-14C6A66F20BC}"/>
              </a:ext>
            </a:extLst>
          </p:cNvPr>
          <p:cNvSpPr/>
          <p:nvPr/>
        </p:nvSpPr>
        <p:spPr>
          <a:xfrm>
            <a:off x="6968781" y="2200886"/>
            <a:ext cx="177950" cy="17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8950095-F933-42D4-757D-80E8C3969B2F}"/>
              </a:ext>
            </a:extLst>
          </p:cNvPr>
          <p:cNvSpPr/>
          <p:nvPr/>
        </p:nvSpPr>
        <p:spPr>
          <a:xfrm>
            <a:off x="10372036" y="2828774"/>
            <a:ext cx="177950" cy="17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052CEB-BC08-4177-0342-9279CFCCE6D8}"/>
              </a:ext>
            </a:extLst>
          </p:cNvPr>
          <p:cNvSpPr txBox="1"/>
          <p:nvPr/>
        </p:nvSpPr>
        <p:spPr>
          <a:xfrm>
            <a:off x="10692914" y="2828774"/>
            <a:ext cx="9164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FF0000"/>
                </a:solidFill>
              </a:rPr>
              <a:t>数字信号输出</a:t>
            </a:r>
          </a:p>
        </p:txBody>
      </p:sp>
    </p:spTree>
    <p:extLst>
      <p:ext uri="{BB962C8B-B14F-4D97-AF65-F5344CB8AC3E}">
        <p14:creationId xmlns:p14="http://schemas.microsoft.com/office/powerpoint/2010/main" val="208180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核心输出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ABZ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231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7321C32D-E763-5D7C-7340-D7213E68414B}"/>
              </a:ext>
            </a:extLst>
          </p:cNvPr>
          <p:cNvGrpSpPr/>
          <p:nvPr/>
        </p:nvGrpSpPr>
        <p:grpSpPr>
          <a:xfrm>
            <a:off x="-93300" y="0"/>
            <a:ext cx="9239477" cy="6857999"/>
            <a:chOff x="162961" y="1487881"/>
            <a:chExt cx="6164580" cy="4575658"/>
          </a:xfrm>
        </p:grpSpPr>
        <p:pic>
          <p:nvPicPr>
            <p:cNvPr id="1030" name="Picture 6" descr="逼真的白色表盘时钟挂钟png图片免抠矢量素材 - 设计盒子">
              <a:extLst>
                <a:ext uri="{FF2B5EF4-FFF2-40B4-BE49-F238E27FC236}">
                  <a16:creationId xmlns:a16="http://schemas.microsoft.com/office/drawing/2014/main" id="{26EA862A-81AD-18F7-3CBA-7F2A5011F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887" b="12887"/>
            <a:stretch/>
          </p:blipFill>
          <p:spPr bwMode="auto">
            <a:xfrm>
              <a:off x="162961" y="1487881"/>
              <a:ext cx="6164580" cy="45756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A7C4D769-6A9A-6925-78C3-0DBFFD60A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5089" y="3605719"/>
              <a:ext cx="2120630" cy="758758"/>
            </a:xfrm>
            <a:prstGeom prst="line">
              <a:avLst/>
            </a:prstGeom>
            <a:ln w="5715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FE82430C-0E99-B228-DE8D-95720DC26677}"/>
                </a:ext>
              </a:extLst>
            </p:cNvPr>
            <p:cNvCxnSpPr/>
            <p:nvPr/>
          </p:nvCxnSpPr>
          <p:spPr>
            <a:xfrm>
              <a:off x="1036916" y="4077797"/>
              <a:ext cx="103761" cy="25616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  <a:effectLst>
              <a:glow rad="101600">
                <a:schemeClr val="bg1"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82DBBC79-FBE3-B590-388B-33E13AE4E5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16603" y="4533236"/>
              <a:ext cx="107131" cy="243811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  <a:effectLst>
              <a:glow rad="101600">
                <a:schemeClr val="bg1">
                  <a:alpha val="60000"/>
                </a:scheme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B1517AA-445D-AD52-7B68-7B7623937EA8}"/>
                </a:ext>
              </a:extLst>
            </p:cNvPr>
            <p:cNvSpPr txBox="1"/>
            <p:nvPr/>
          </p:nvSpPr>
          <p:spPr>
            <a:xfrm>
              <a:off x="774796" y="4333959"/>
              <a:ext cx="530111" cy="3080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¼</a:t>
              </a:r>
              <a:r>
                <a:rPr lang="zh-CN" altLang="en-US" sz="1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秒</a:t>
              </a:r>
              <a:endPara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zh-CN" altLang="en-US" sz="1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间距</a:t>
              </a:r>
            </a:p>
          </p:txBody>
        </p:sp>
      </p:grpSp>
      <p:sp>
        <p:nvSpPr>
          <p:cNvPr id="48" name="矩形 47">
            <a:extLst>
              <a:ext uri="{FF2B5EF4-FFF2-40B4-BE49-F238E27FC236}">
                <a16:creationId xmlns:a16="http://schemas.microsoft.com/office/drawing/2014/main" id="{8D2DF5A6-2C66-4F35-BCFD-31432A635D65}"/>
              </a:ext>
            </a:extLst>
          </p:cNvPr>
          <p:cNvSpPr/>
          <p:nvPr/>
        </p:nvSpPr>
        <p:spPr>
          <a:xfrm>
            <a:off x="2457450" y="-1"/>
            <a:ext cx="973455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2000">
                <a:schemeClr val="bg1"/>
              </a:gs>
              <a:gs pos="62000">
                <a:schemeClr val="bg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01774C7-6388-AC43-F409-95272CF00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58"/>
            <a:ext cx="2951580" cy="1339913"/>
          </a:xfrm>
        </p:spPr>
        <p:txBody>
          <a:bodyPr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ABZ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</a:t>
            </a:r>
            <a:endParaRPr lang="zh-CN" alt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F5A1DAA-6205-73C8-0999-C6E987D65A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837104A-5DCF-7B6E-33E9-A67AED6674E7}"/>
              </a:ext>
            </a:extLst>
          </p:cNvPr>
          <p:cNvSpPr txBox="1"/>
          <p:nvPr/>
        </p:nvSpPr>
        <p:spPr>
          <a:xfrm>
            <a:off x="6096000" y="202200"/>
            <a:ext cx="5831107" cy="614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 b="1" dirty="0"/>
              <a:t>A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信号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我们可以将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14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信号看作是时钟的秒针。当秒针移动时，每经过一秒刻度它会生成一个周期的方波信号。我们增加了一个秒针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B,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但是和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信号保持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1/4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的间距。通过观察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AB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相位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可以判断运动方向。对于编码器我们可以知道转动了多少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1600" b="1" dirty="0"/>
          </a:p>
          <a:p>
            <a:pPr algn="ctr">
              <a:lnSpc>
                <a:spcPct val="150000"/>
              </a:lnSpc>
            </a:pPr>
            <a:endParaRPr lang="en-US" altLang="zh-CN" sz="1600" b="1" dirty="0"/>
          </a:p>
          <a:p>
            <a:pPr algn="ctr">
              <a:lnSpc>
                <a:spcPct val="150000"/>
              </a:lnSpc>
            </a:pPr>
            <a:endParaRPr lang="en-US" altLang="zh-CN" sz="1600" b="1" dirty="0"/>
          </a:p>
          <a:p>
            <a:pPr algn="ctr">
              <a:lnSpc>
                <a:spcPct val="150000"/>
              </a:lnSpc>
            </a:pPr>
            <a:endParaRPr lang="en-US" altLang="zh-CN" sz="1600" b="1" dirty="0"/>
          </a:p>
          <a:p>
            <a:pPr algn="ctr">
              <a:lnSpc>
                <a:spcPct val="150000"/>
              </a:lnSpc>
            </a:pPr>
            <a:endParaRPr lang="en-US" altLang="zh-CN" sz="1600" b="1" dirty="0"/>
          </a:p>
          <a:p>
            <a:pPr algn="ctr">
              <a:lnSpc>
                <a:spcPct val="150000"/>
              </a:lnSpc>
            </a:pPr>
            <a:endParaRPr lang="en-US" altLang="zh-CN" sz="1600" b="1" dirty="0"/>
          </a:p>
          <a:p>
            <a:pPr algn="ctr">
              <a:lnSpc>
                <a:spcPct val="150000"/>
              </a:lnSpc>
            </a:pPr>
            <a:endParaRPr lang="en-US" altLang="zh-CN" sz="1600" b="1" dirty="0"/>
          </a:p>
          <a:p>
            <a:pPr algn="ctr">
              <a:lnSpc>
                <a:spcPct val="150000"/>
              </a:lnSpc>
            </a:pPr>
            <a:r>
              <a:rPr lang="en-US" altLang="zh-CN" sz="1600" b="1" dirty="0"/>
              <a:t>Z</a:t>
            </a:r>
            <a:r>
              <a:rPr lang="zh-CN" altLang="en-US" sz="1600" b="1" dirty="0"/>
              <a:t>信号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我们可以将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信号看作是时钟的整点标志。每当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秒针指向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点时，我们就知道一个新的分钟开始了。同样，每当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信号出现时，我们就知道编码器完成了一次完整的旋转。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信号提供了一个清晰的参考点，让我们知道何时重新开始计数。</a:t>
            </a:r>
          </a:p>
        </p:txBody>
      </p:sp>
      <p:pic>
        <p:nvPicPr>
          <p:cNvPr id="1028" name="Picture 4" descr="Understanding the MagAlpha Digital Filter: Benefits of the MA732 ...">
            <a:extLst>
              <a:ext uri="{FF2B5EF4-FFF2-40B4-BE49-F238E27FC236}">
                <a16:creationId xmlns:a16="http://schemas.microsoft.com/office/drawing/2014/main" id="{0121BC10-4E9E-85FB-4CF3-B43771FEE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61" b="3032"/>
          <a:stretch/>
        </p:blipFill>
        <p:spPr bwMode="auto">
          <a:xfrm>
            <a:off x="7170739" y="2308860"/>
            <a:ext cx="3365903" cy="1956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F6374A94-DA92-EBF1-F632-DDEB74AD0773}"/>
              </a:ext>
            </a:extLst>
          </p:cNvPr>
          <p:cNvSpPr txBox="1"/>
          <p:nvPr/>
        </p:nvSpPr>
        <p:spPr>
          <a:xfrm>
            <a:off x="7783315" y="2031861"/>
            <a:ext cx="12282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秒</a:t>
            </a:r>
            <a:r>
              <a:rPr lang="en-US" altLang="zh-CN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/ABZ</a:t>
            </a:r>
            <a:r>
              <a:rPr lang="zh-CN" alt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分辨率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48233AE-640E-901B-1731-3D4F24C0C0C2}"/>
              </a:ext>
            </a:extLst>
          </p:cNvPr>
          <p:cNvSpPr/>
          <p:nvPr/>
        </p:nvSpPr>
        <p:spPr>
          <a:xfrm>
            <a:off x="7052060" y="2499360"/>
            <a:ext cx="3603260" cy="426720"/>
          </a:xfrm>
          <a:prstGeom prst="rect">
            <a:avLst/>
          </a:prstGeom>
          <a:solidFill>
            <a:srgbClr val="FF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5BC6FB5-39DA-82AE-4755-4B502DFC2F48}"/>
              </a:ext>
            </a:extLst>
          </p:cNvPr>
          <p:cNvSpPr/>
          <p:nvPr/>
        </p:nvSpPr>
        <p:spPr>
          <a:xfrm>
            <a:off x="7052060" y="2914920"/>
            <a:ext cx="3603260" cy="426720"/>
          </a:xfrm>
          <a:prstGeom prst="rect">
            <a:avLst/>
          </a:prstGeom>
          <a:solidFill>
            <a:schemeClr val="accent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84D24D0-2917-6655-3528-2F22B89D3888}"/>
              </a:ext>
            </a:extLst>
          </p:cNvPr>
          <p:cNvSpPr/>
          <p:nvPr/>
        </p:nvSpPr>
        <p:spPr>
          <a:xfrm>
            <a:off x="7048314" y="3346567"/>
            <a:ext cx="3603260" cy="426720"/>
          </a:xfrm>
          <a:prstGeom prst="rect">
            <a:avLst/>
          </a:prstGeom>
          <a:solidFill>
            <a:schemeClr val="tx1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181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7EA35-434D-A2DF-31D4-E34EC3FC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ABZ</a:t>
            </a:r>
            <a:r>
              <a:rPr lang="zh-CN" altLang="en-US" dirty="0"/>
              <a:t>线数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42552B-9613-928B-848D-1730D14C2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711325"/>
            <a:ext cx="43180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从</a:t>
            </a:r>
            <a:r>
              <a:rPr lang="en-US" altLang="zh-CN" sz="2000" dirty="0"/>
              <a:t>0</a:t>
            </a:r>
            <a:r>
              <a:rPr lang="zh-CN" altLang="en-US" sz="2000" dirty="0"/>
              <a:t>度到</a:t>
            </a:r>
            <a:r>
              <a:rPr lang="en-US" altLang="zh-CN" sz="2000" dirty="0"/>
              <a:t>360</a:t>
            </a:r>
            <a:r>
              <a:rPr lang="zh-CN" altLang="en-US" sz="2000" dirty="0"/>
              <a:t>度</a:t>
            </a:r>
            <a:r>
              <a:rPr lang="en-US" altLang="zh-CN" sz="2000" dirty="0"/>
              <a:t>, A</a:t>
            </a:r>
            <a:r>
              <a:rPr lang="zh-CN" altLang="en-US" sz="2000" dirty="0"/>
              <a:t>信号方波的个数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/>
              <a:t>对于</a:t>
            </a:r>
            <a:r>
              <a:rPr lang="en-US" altLang="zh-CN" sz="2000" b="1" dirty="0"/>
              <a:t>KTH78</a:t>
            </a:r>
            <a:r>
              <a:rPr lang="zh-CN" altLang="en-US" sz="2000" b="1" dirty="0"/>
              <a:t>系列产品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个数是可调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可调范围根据具体型号不同而改变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一般在 </a:t>
            </a:r>
            <a:r>
              <a:rPr lang="en-US" altLang="zh-CN" sz="2000" dirty="0"/>
              <a:t>4</a:t>
            </a:r>
            <a:r>
              <a:rPr lang="zh-CN" altLang="en-US" sz="2000" dirty="0"/>
              <a:t>到</a:t>
            </a:r>
            <a:r>
              <a:rPr lang="en-US" altLang="zh-CN" sz="2000" dirty="0"/>
              <a:t>4096 </a:t>
            </a:r>
            <a:r>
              <a:rPr lang="zh-CN" altLang="en-US" sz="2000" dirty="0"/>
              <a:t>之间任意整数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543FBA-CCB7-384D-F324-A1FEC1FCE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1711325"/>
            <a:ext cx="6413500" cy="33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98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C7EA35-434D-A2DF-31D4-E34EC3FC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ABZ</a:t>
            </a:r>
            <a:r>
              <a:rPr lang="zh-CN" altLang="en-US" dirty="0"/>
              <a:t>最大频率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42552B-9613-928B-848D-1730D14C2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711325"/>
            <a:ext cx="43180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A</a:t>
            </a:r>
            <a:r>
              <a:rPr lang="zh-CN" altLang="en-US" sz="2000" dirty="0"/>
              <a:t>信号或者</a:t>
            </a:r>
            <a:r>
              <a:rPr lang="en-US" altLang="zh-CN" sz="2000" dirty="0"/>
              <a:t>B</a:t>
            </a:r>
            <a:r>
              <a:rPr lang="zh-CN" altLang="en-US" sz="2000" dirty="0"/>
              <a:t>信号的最大频率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/>
              <a:t>对于</a:t>
            </a:r>
            <a:r>
              <a:rPr lang="en-US" altLang="zh-CN" sz="2000" b="1" dirty="0"/>
              <a:t>KTH78</a:t>
            </a:r>
            <a:r>
              <a:rPr lang="zh-CN" altLang="en-US" sz="2000" b="1" dirty="0"/>
              <a:t>系列产品</a:t>
            </a: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最大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16Mhz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方波最小周期 </a:t>
            </a:r>
            <a:r>
              <a:rPr lang="en-US" altLang="zh-CN" sz="2000" dirty="0"/>
              <a:t>1/16us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 (</a:t>
            </a:r>
            <a:r>
              <a:rPr lang="zh-CN" altLang="en-US" sz="2000" dirty="0"/>
              <a:t>可以对外理解就是采样周期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543FBA-CCB7-384D-F324-A1FEC1FCE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1711325"/>
            <a:ext cx="6413500" cy="33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D04B31C-1CCE-F01F-8F53-8695EF0D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5575299" cy="1800526"/>
          </a:xfrm>
        </p:spPr>
        <p:txBody>
          <a:bodyPr>
            <a:normAutofit/>
          </a:bodyPr>
          <a:lstStyle/>
          <a:p>
            <a:r>
              <a:rPr lang="en-US" altLang="zh-CN" dirty="0"/>
              <a:t>ABZ </a:t>
            </a:r>
            <a:r>
              <a:rPr lang="zh-CN" altLang="en-US" dirty="0"/>
              <a:t>支持最大转速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78499-4BF5-DE98-D477-646F24D1D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b="1" dirty="0"/>
              <a:t>KTH78</a:t>
            </a:r>
            <a:r>
              <a:rPr lang="zh-CN" altLang="en-US" sz="2000" b="1" dirty="0"/>
              <a:t>系列产品</a:t>
            </a:r>
            <a:endParaRPr lang="en-US" altLang="zh-CN" sz="2000" b="1" dirty="0"/>
          </a:p>
          <a:p>
            <a:pPr marL="0" indent="0"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支持最高转速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120,000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采样周期是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1/16 us</a:t>
            </a: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转速过快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AB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的一些方波显示不出来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endParaRPr lang="zh-CN" altLang="en-US" sz="2000" dirty="0"/>
          </a:p>
        </p:txBody>
      </p:sp>
      <p:pic>
        <p:nvPicPr>
          <p:cNvPr id="4" name="Picture 4" descr="Understanding the MagAlpha Digital Filter: Benefits of the MA732 ...">
            <a:extLst>
              <a:ext uri="{FF2B5EF4-FFF2-40B4-BE49-F238E27FC236}">
                <a16:creationId xmlns:a16="http://schemas.microsoft.com/office/drawing/2014/main" id="{024F3644-7D76-27D9-A94A-90E917ECB8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9" b="6224"/>
          <a:stretch/>
        </p:blipFill>
        <p:spPr bwMode="auto">
          <a:xfrm>
            <a:off x="6565900" y="1371600"/>
            <a:ext cx="4034104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Understanding the MagAlpha Digital Filter: Benefits of the MA732 ...">
            <a:extLst>
              <a:ext uri="{FF2B5EF4-FFF2-40B4-BE49-F238E27FC236}">
                <a16:creationId xmlns:a16="http://schemas.microsoft.com/office/drawing/2014/main" id="{483CF694-B4BB-9025-30CA-4CF0E4FF9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9" r="59724" b="6224"/>
          <a:stretch/>
        </p:blipFill>
        <p:spPr bwMode="auto">
          <a:xfrm>
            <a:off x="6958185" y="4190145"/>
            <a:ext cx="1624767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Understanding the MagAlpha Digital Filter: Benefits of the MA732 ...">
            <a:extLst>
              <a:ext uri="{FF2B5EF4-FFF2-40B4-BE49-F238E27FC236}">
                <a16:creationId xmlns:a16="http://schemas.microsoft.com/office/drawing/2014/main" id="{F449E6F0-6A1B-15A7-0A1C-AC4A7876D6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87" t="23099" b="6224"/>
          <a:stretch/>
        </p:blipFill>
        <p:spPr bwMode="auto">
          <a:xfrm>
            <a:off x="8543928" y="4190145"/>
            <a:ext cx="1468935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9D56131-C3E7-03D3-938B-D8B48E6243DD}"/>
              </a:ext>
            </a:extLst>
          </p:cNvPr>
          <p:cNvSpPr txBox="1"/>
          <p:nvPr/>
        </p:nvSpPr>
        <p:spPr>
          <a:xfrm>
            <a:off x="7892618" y="967640"/>
            <a:ext cx="2120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正常转速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13F4CE-5DA1-BC01-814D-A19A61CCE6C9}"/>
              </a:ext>
            </a:extLst>
          </p:cNvPr>
          <p:cNvSpPr txBox="1"/>
          <p:nvPr/>
        </p:nvSpPr>
        <p:spPr>
          <a:xfrm>
            <a:off x="7248526" y="3744613"/>
            <a:ext cx="2512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转速过快  丢失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信号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46C5310-4B82-4CCB-E6B1-05539FB58F74}"/>
              </a:ext>
            </a:extLst>
          </p:cNvPr>
          <p:cNvSpPr/>
          <p:nvPr/>
        </p:nvSpPr>
        <p:spPr>
          <a:xfrm>
            <a:off x="8523419" y="4191000"/>
            <a:ext cx="221297" cy="2295525"/>
          </a:xfrm>
          <a:custGeom>
            <a:avLst/>
            <a:gdLst>
              <a:gd name="connsiteX0" fmla="*/ 87181 w 221297"/>
              <a:gd name="connsiteY0" fmla="*/ 0 h 2295525"/>
              <a:gd name="connsiteX1" fmla="*/ 58606 w 221297"/>
              <a:gd name="connsiteY1" fmla="*/ 47625 h 2295525"/>
              <a:gd name="connsiteX2" fmla="*/ 49081 w 221297"/>
              <a:gd name="connsiteY2" fmla="*/ 76200 h 2295525"/>
              <a:gd name="connsiteX3" fmla="*/ 30031 w 221297"/>
              <a:gd name="connsiteY3" fmla="*/ 123825 h 2295525"/>
              <a:gd name="connsiteX4" fmla="*/ 39556 w 221297"/>
              <a:gd name="connsiteY4" fmla="*/ 276225 h 2295525"/>
              <a:gd name="connsiteX5" fmla="*/ 49081 w 221297"/>
              <a:gd name="connsiteY5" fmla="*/ 314325 h 2295525"/>
              <a:gd name="connsiteX6" fmla="*/ 115756 w 221297"/>
              <a:gd name="connsiteY6" fmla="*/ 371475 h 2295525"/>
              <a:gd name="connsiteX7" fmla="*/ 134806 w 221297"/>
              <a:gd name="connsiteY7" fmla="*/ 428625 h 2295525"/>
              <a:gd name="connsiteX8" fmla="*/ 96706 w 221297"/>
              <a:gd name="connsiteY8" fmla="*/ 542925 h 2295525"/>
              <a:gd name="connsiteX9" fmla="*/ 68131 w 221297"/>
              <a:gd name="connsiteY9" fmla="*/ 552450 h 2295525"/>
              <a:gd name="connsiteX10" fmla="*/ 39556 w 221297"/>
              <a:gd name="connsiteY10" fmla="*/ 581025 h 2295525"/>
              <a:gd name="connsiteX11" fmla="*/ 1456 w 221297"/>
              <a:gd name="connsiteY11" fmla="*/ 609600 h 2295525"/>
              <a:gd name="connsiteX12" fmla="*/ 10981 w 221297"/>
              <a:gd name="connsiteY12" fmla="*/ 647700 h 2295525"/>
              <a:gd name="connsiteX13" fmla="*/ 58606 w 221297"/>
              <a:gd name="connsiteY13" fmla="*/ 733425 h 2295525"/>
              <a:gd name="connsiteX14" fmla="*/ 87181 w 221297"/>
              <a:gd name="connsiteY14" fmla="*/ 762000 h 2295525"/>
              <a:gd name="connsiteX15" fmla="*/ 106231 w 221297"/>
              <a:gd name="connsiteY15" fmla="*/ 838200 h 2295525"/>
              <a:gd name="connsiteX16" fmla="*/ 77656 w 221297"/>
              <a:gd name="connsiteY16" fmla="*/ 866775 h 2295525"/>
              <a:gd name="connsiteX17" fmla="*/ 39556 w 221297"/>
              <a:gd name="connsiteY17" fmla="*/ 876300 h 2295525"/>
              <a:gd name="connsiteX18" fmla="*/ 30031 w 221297"/>
              <a:gd name="connsiteY18" fmla="*/ 914400 h 2295525"/>
              <a:gd name="connsiteX19" fmla="*/ 87181 w 221297"/>
              <a:gd name="connsiteY19" fmla="*/ 1038225 h 2295525"/>
              <a:gd name="connsiteX20" fmla="*/ 125281 w 221297"/>
              <a:gd name="connsiteY20" fmla="*/ 1104900 h 2295525"/>
              <a:gd name="connsiteX21" fmla="*/ 144331 w 221297"/>
              <a:gd name="connsiteY21" fmla="*/ 1162050 h 2295525"/>
              <a:gd name="connsiteX22" fmla="*/ 172906 w 221297"/>
              <a:gd name="connsiteY22" fmla="*/ 1323975 h 2295525"/>
              <a:gd name="connsiteX23" fmla="*/ 125281 w 221297"/>
              <a:gd name="connsiteY23" fmla="*/ 1390650 h 2295525"/>
              <a:gd name="connsiteX24" fmla="*/ 87181 w 221297"/>
              <a:gd name="connsiteY24" fmla="*/ 1457325 h 2295525"/>
              <a:gd name="connsiteX25" fmla="*/ 77656 w 221297"/>
              <a:gd name="connsiteY25" fmla="*/ 1485900 h 2295525"/>
              <a:gd name="connsiteX26" fmla="*/ 87181 w 221297"/>
              <a:gd name="connsiteY26" fmla="*/ 1524000 h 2295525"/>
              <a:gd name="connsiteX27" fmla="*/ 134806 w 221297"/>
              <a:gd name="connsiteY27" fmla="*/ 1571625 h 2295525"/>
              <a:gd name="connsiteX28" fmla="*/ 125281 w 221297"/>
              <a:gd name="connsiteY28" fmla="*/ 1685925 h 2295525"/>
              <a:gd name="connsiteX29" fmla="*/ 115756 w 221297"/>
              <a:gd name="connsiteY29" fmla="*/ 1714500 h 2295525"/>
              <a:gd name="connsiteX30" fmla="*/ 106231 w 221297"/>
              <a:gd name="connsiteY30" fmla="*/ 1809750 h 2295525"/>
              <a:gd name="connsiteX31" fmla="*/ 163381 w 221297"/>
              <a:gd name="connsiteY31" fmla="*/ 1952625 h 2295525"/>
              <a:gd name="connsiteX32" fmla="*/ 220531 w 221297"/>
              <a:gd name="connsiteY32" fmla="*/ 2009775 h 2295525"/>
              <a:gd name="connsiteX33" fmla="*/ 191956 w 221297"/>
              <a:gd name="connsiteY33" fmla="*/ 2066925 h 2295525"/>
              <a:gd name="connsiteX34" fmla="*/ 134806 w 221297"/>
              <a:gd name="connsiteY34" fmla="*/ 2143125 h 2295525"/>
              <a:gd name="connsiteX35" fmla="*/ 77656 w 221297"/>
              <a:gd name="connsiteY35" fmla="*/ 2295525 h 229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21297" h="2295525">
                <a:moveTo>
                  <a:pt x="87181" y="0"/>
                </a:moveTo>
                <a:cubicBezTo>
                  <a:pt x="77656" y="15875"/>
                  <a:pt x="66885" y="31066"/>
                  <a:pt x="58606" y="47625"/>
                </a:cubicBezTo>
                <a:cubicBezTo>
                  <a:pt x="54116" y="56605"/>
                  <a:pt x="52606" y="66799"/>
                  <a:pt x="49081" y="76200"/>
                </a:cubicBezTo>
                <a:cubicBezTo>
                  <a:pt x="43078" y="92209"/>
                  <a:pt x="36381" y="107950"/>
                  <a:pt x="30031" y="123825"/>
                </a:cubicBezTo>
                <a:cubicBezTo>
                  <a:pt x="33206" y="174625"/>
                  <a:pt x="34491" y="225578"/>
                  <a:pt x="39556" y="276225"/>
                </a:cubicBezTo>
                <a:cubicBezTo>
                  <a:pt x="40859" y="289251"/>
                  <a:pt x="42143" y="303224"/>
                  <a:pt x="49081" y="314325"/>
                </a:cubicBezTo>
                <a:cubicBezTo>
                  <a:pt x="65579" y="340722"/>
                  <a:pt x="91165" y="355081"/>
                  <a:pt x="115756" y="371475"/>
                </a:cubicBezTo>
                <a:cubicBezTo>
                  <a:pt x="122106" y="390525"/>
                  <a:pt x="133138" y="408614"/>
                  <a:pt x="134806" y="428625"/>
                </a:cubicBezTo>
                <a:cubicBezTo>
                  <a:pt x="137452" y="460380"/>
                  <a:pt x="116634" y="519676"/>
                  <a:pt x="96706" y="542925"/>
                </a:cubicBezTo>
                <a:cubicBezTo>
                  <a:pt x="90172" y="550548"/>
                  <a:pt x="77656" y="549275"/>
                  <a:pt x="68131" y="552450"/>
                </a:cubicBezTo>
                <a:cubicBezTo>
                  <a:pt x="58606" y="561975"/>
                  <a:pt x="49783" y="572259"/>
                  <a:pt x="39556" y="581025"/>
                </a:cubicBezTo>
                <a:cubicBezTo>
                  <a:pt x="27503" y="591356"/>
                  <a:pt x="7709" y="595009"/>
                  <a:pt x="1456" y="609600"/>
                </a:cubicBezTo>
                <a:cubicBezTo>
                  <a:pt x="-3701" y="621632"/>
                  <a:pt x="6119" y="635545"/>
                  <a:pt x="10981" y="647700"/>
                </a:cubicBezTo>
                <a:cubicBezTo>
                  <a:pt x="18464" y="666409"/>
                  <a:pt x="41830" y="713293"/>
                  <a:pt x="58606" y="733425"/>
                </a:cubicBezTo>
                <a:cubicBezTo>
                  <a:pt x="67230" y="743773"/>
                  <a:pt x="77656" y="752475"/>
                  <a:pt x="87181" y="762000"/>
                </a:cubicBezTo>
                <a:cubicBezTo>
                  <a:pt x="92661" y="778439"/>
                  <a:pt x="109515" y="825064"/>
                  <a:pt x="106231" y="838200"/>
                </a:cubicBezTo>
                <a:cubicBezTo>
                  <a:pt x="102964" y="851268"/>
                  <a:pt x="89352" y="860092"/>
                  <a:pt x="77656" y="866775"/>
                </a:cubicBezTo>
                <a:cubicBezTo>
                  <a:pt x="66290" y="873270"/>
                  <a:pt x="52256" y="873125"/>
                  <a:pt x="39556" y="876300"/>
                </a:cubicBezTo>
                <a:cubicBezTo>
                  <a:pt x="36381" y="889000"/>
                  <a:pt x="28846" y="901363"/>
                  <a:pt x="30031" y="914400"/>
                </a:cubicBezTo>
                <a:cubicBezTo>
                  <a:pt x="36214" y="982418"/>
                  <a:pt x="55234" y="982318"/>
                  <a:pt x="87181" y="1038225"/>
                </a:cubicBezTo>
                <a:cubicBezTo>
                  <a:pt x="99881" y="1060450"/>
                  <a:pt x="114554" y="1081658"/>
                  <a:pt x="125281" y="1104900"/>
                </a:cubicBezTo>
                <a:cubicBezTo>
                  <a:pt x="133696" y="1123132"/>
                  <a:pt x="139461" y="1142569"/>
                  <a:pt x="144331" y="1162050"/>
                </a:cubicBezTo>
                <a:cubicBezTo>
                  <a:pt x="159966" y="1224591"/>
                  <a:pt x="164223" y="1263191"/>
                  <a:pt x="172906" y="1323975"/>
                </a:cubicBezTo>
                <a:cubicBezTo>
                  <a:pt x="137656" y="1394475"/>
                  <a:pt x="173550" y="1332727"/>
                  <a:pt x="125281" y="1390650"/>
                </a:cubicBezTo>
                <a:cubicBezTo>
                  <a:pt x="111214" y="1407531"/>
                  <a:pt x="95401" y="1438144"/>
                  <a:pt x="87181" y="1457325"/>
                </a:cubicBezTo>
                <a:cubicBezTo>
                  <a:pt x="83226" y="1466553"/>
                  <a:pt x="80831" y="1476375"/>
                  <a:pt x="77656" y="1485900"/>
                </a:cubicBezTo>
                <a:cubicBezTo>
                  <a:pt x="80831" y="1498600"/>
                  <a:pt x="78800" y="1513943"/>
                  <a:pt x="87181" y="1524000"/>
                </a:cubicBezTo>
                <a:cubicBezTo>
                  <a:pt x="152570" y="1602467"/>
                  <a:pt x="107844" y="1490740"/>
                  <a:pt x="134806" y="1571625"/>
                </a:cubicBezTo>
                <a:cubicBezTo>
                  <a:pt x="131631" y="1609725"/>
                  <a:pt x="130334" y="1648028"/>
                  <a:pt x="125281" y="1685925"/>
                </a:cubicBezTo>
                <a:cubicBezTo>
                  <a:pt x="123954" y="1695877"/>
                  <a:pt x="117283" y="1704577"/>
                  <a:pt x="115756" y="1714500"/>
                </a:cubicBezTo>
                <a:cubicBezTo>
                  <a:pt x="110904" y="1746037"/>
                  <a:pt x="109406" y="1778000"/>
                  <a:pt x="106231" y="1809750"/>
                </a:cubicBezTo>
                <a:cubicBezTo>
                  <a:pt x="125281" y="1857375"/>
                  <a:pt x="137932" y="1908090"/>
                  <a:pt x="163381" y="1952625"/>
                </a:cubicBezTo>
                <a:cubicBezTo>
                  <a:pt x="176747" y="1976016"/>
                  <a:pt x="213997" y="1983639"/>
                  <a:pt x="220531" y="2009775"/>
                </a:cubicBezTo>
                <a:cubicBezTo>
                  <a:pt x="225697" y="2030438"/>
                  <a:pt x="203473" y="2049009"/>
                  <a:pt x="191956" y="2066925"/>
                </a:cubicBezTo>
                <a:cubicBezTo>
                  <a:pt x="174787" y="2093632"/>
                  <a:pt x="150010" y="2115252"/>
                  <a:pt x="134806" y="2143125"/>
                </a:cubicBezTo>
                <a:cubicBezTo>
                  <a:pt x="75155" y="2252486"/>
                  <a:pt x="77656" y="2232031"/>
                  <a:pt x="77656" y="2295525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089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核心输出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UVW / PWM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6490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EE268D-EA32-004D-C658-BB4CB62C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altLang="zh-CN" dirty="0"/>
              <a:t>UVW</a:t>
            </a:r>
            <a:r>
              <a:rPr lang="zh-CN" altLang="en-US" dirty="0"/>
              <a:t>极对数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3A42BC7-AD70-ACFE-5FAF-85A83F2C7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3381"/>
            <a:ext cx="6153149" cy="3553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400" dirty="0"/>
              <a:t>类似</a:t>
            </a:r>
            <a:r>
              <a:rPr lang="en-US" altLang="zh-CN" sz="1400" dirty="0"/>
              <a:t>AB</a:t>
            </a:r>
            <a:r>
              <a:rPr lang="zh-CN" altLang="en-US" sz="1400" dirty="0"/>
              <a:t>信号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2000" dirty="0"/>
              <a:t>UVW</a:t>
            </a:r>
            <a:r>
              <a:rPr lang="zh-CN" altLang="en-US" sz="2000" dirty="0"/>
              <a:t>对数</a:t>
            </a:r>
            <a:r>
              <a:rPr lang="en-US" altLang="zh-CN" sz="2000" dirty="0"/>
              <a:t>=</a:t>
            </a:r>
            <a:r>
              <a:rPr lang="zh-CN" altLang="en-US" sz="2000" dirty="0"/>
              <a:t>从</a:t>
            </a:r>
            <a:r>
              <a:rPr lang="en-US" altLang="zh-CN" sz="2000" dirty="0"/>
              <a:t>0</a:t>
            </a:r>
            <a:r>
              <a:rPr lang="zh-CN" altLang="en-US" sz="2000" dirty="0"/>
              <a:t>度到</a:t>
            </a:r>
            <a:r>
              <a:rPr lang="en-US" altLang="zh-CN" sz="2000" dirty="0"/>
              <a:t>360</a:t>
            </a:r>
            <a:r>
              <a:rPr lang="zh-CN" altLang="en-US" sz="2000" dirty="0"/>
              <a:t>度</a:t>
            </a:r>
            <a:r>
              <a:rPr lang="en-US" altLang="zh-CN" sz="2000" dirty="0"/>
              <a:t>, U</a:t>
            </a:r>
            <a:r>
              <a:rPr lang="zh-CN" altLang="en-US" sz="2000" dirty="0"/>
              <a:t>信号方波的个数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U V W </a:t>
            </a:r>
            <a:r>
              <a:rPr lang="zh-CN" altLang="en-US" sz="2000" dirty="0"/>
              <a:t>信号彼此相差</a:t>
            </a:r>
            <a:r>
              <a:rPr lang="en-US" altLang="zh-CN" sz="2000" dirty="0"/>
              <a:t>1/3</a:t>
            </a:r>
            <a:r>
              <a:rPr lang="zh-CN" altLang="en-US" sz="2000" dirty="0"/>
              <a:t>个方波周期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KTH78</a:t>
            </a:r>
            <a:r>
              <a:rPr lang="zh-CN" altLang="en-US" sz="2000" b="1" dirty="0"/>
              <a:t>系列产品</a:t>
            </a:r>
            <a:endParaRPr lang="en-US" altLang="zh-CN" sz="2000" b="1" dirty="0"/>
          </a:p>
          <a:p>
            <a:pPr marL="0" indent="0">
              <a:buNone/>
            </a:pPr>
            <a:r>
              <a:rPr lang="zh-CN" altLang="en-US" sz="2000" b="1" dirty="0"/>
              <a:t>对数从</a:t>
            </a:r>
            <a:r>
              <a:rPr lang="en-US" altLang="zh-CN" sz="2000" b="1" dirty="0"/>
              <a:t>1 </a:t>
            </a:r>
            <a:r>
              <a:rPr lang="zh-CN" altLang="en-US" sz="2000" b="1" dirty="0"/>
              <a:t>到</a:t>
            </a:r>
            <a:r>
              <a:rPr lang="en-US" altLang="zh-CN" sz="2000" b="1" dirty="0"/>
              <a:t>8 </a:t>
            </a:r>
            <a:r>
              <a:rPr lang="zh-CN" altLang="en-US" sz="2000" b="1" dirty="0"/>
              <a:t>任意整数可以设置</a:t>
            </a:r>
            <a:endParaRPr lang="en-US" altLang="zh-CN" sz="2000" b="1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3B46D38-5DDE-6B7D-BE59-2E0BE1B1C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986" y="2321564"/>
            <a:ext cx="4747547" cy="22432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A1D7979-A9E8-F23B-A692-238B91953E1A}"/>
              </a:ext>
            </a:extLst>
          </p:cNvPr>
          <p:cNvSpPr txBox="1"/>
          <p:nvPr/>
        </p:nvSpPr>
        <p:spPr>
          <a:xfrm>
            <a:off x="8079316" y="4816872"/>
            <a:ext cx="238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极对数</a:t>
            </a:r>
            <a:r>
              <a:rPr lang="en-US" altLang="zh-CN" dirty="0"/>
              <a:t>=2</a:t>
            </a:r>
            <a:r>
              <a:rPr lang="zh-CN" altLang="en-US" dirty="0"/>
              <a:t>的时候波形</a:t>
            </a:r>
          </a:p>
        </p:txBody>
      </p:sp>
    </p:spTree>
    <p:extLst>
      <p:ext uri="{BB962C8B-B14F-4D97-AF65-F5344CB8AC3E}">
        <p14:creationId xmlns:p14="http://schemas.microsoft.com/office/powerpoint/2010/main" val="673134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DEE268D-EA32-004D-C658-BB4CB62C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 altLang="zh-CN"/>
              <a:t>PWM</a:t>
            </a:r>
            <a:r>
              <a:rPr lang="zh-CN" altLang="en-US"/>
              <a:t>波形</a:t>
            </a:r>
            <a:endParaRPr lang="zh-CN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3A42BC7-AD70-ACFE-5FAF-85A83F2C7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3381"/>
            <a:ext cx="6153149" cy="35535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2000" dirty="0"/>
              <a:t>只有一个信号 </a:t>
            </a:r>
            <a:r>
              <a:rPr lang="en-US" altLang="zh-CN" sz="2000" dirty="0"/>
              <a:t>PWM</a:t>
            </a:r>
          </a:p>
          <a:p>
            <a:pPr marL="0" indent="0">
              <a:buNone/>
            </a:pPr>
            <a:r>
              <a:rPr lang="en-US" altLang="zh-CN" sz="2000" b="1" dirty="0"/>
              <a:t>0</a:t>
            </a:r>
            <a:r>
              <a:rPr lang="zh-CN" altLang="en-US" sz="2000" b="1" dirty="0"/>
              <a:t>度的时候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输出基本都为</a:t>
            </a:r>
            <a:r>
              <a:rPr lang="en-US" altLang="zh-CN" sz="2000" b="1" dirty="0"/>
              <a:t>0</a:t>
            </a:r>
          </a:p>
          <a:p>
            <a:pPr marL="0" indent="0">
              <a:buNone/>
            </a:pPr>
            <a:r>
              <a:rPr lang="en-US" altLang="zh-CN" sz="2000" b="1" dirty="0"/>
              <a:t>360</a:t>
            </a:r>
            <a:r>
              <a:rPr lang="zh-CN" altLang="en-US" sz="2000" b="1" dirty="0"/>
              <a:t>度的时候</a:t>
            </a:r>
            <a:r>
              <a:rPr lang="en-US" altLang="zh-CN" sz="2000" b="1" dirty="0"/>
              <a:t>, </a:t>
            </a:r>
            <a:r>
              <a:rPr lang="zh-CN" altLang="en-US" sz="2000" b="1" dirty="0"/>
              <a:t>输出基本都为</a:t>
            </a:r>
            <a:r>
              <a:rPr lang="en-US" altLang="zh-CN" sz="2000" b="1" dirty="0"/>
              <a:t>1</a:t>
            </a:r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zh-CN" altLang="en-US" sz="2000" b="1" dirty="0"/>
              <a:t>分辨率为</a:t>
            </a:r>
            <a:r>
              <a:rPr lang="en-US" altLang="zh-CN" sz="2000" b="1" dirty="0"/>
              <a:t>14</a:t>
            </a:r>
            <a:r>
              <a:rPr lang="zh-CN" altLang="en-US" sz="2000" b="1" dirty="0"/>
              <a:t>位</a:t>
            </a:r>
            <a:r>
              <a:rPr lang="en-US" altLang="zh-CN" sz="2000" b="1" dirty="0"/>
              <a:t>=</a:t>
            </a:r>
            <a:r>
              <a:rPr lang="en-US" altLang="zh-CN" sz="2000" dirty="0"/>
              <a:t>0.0220</a:t>
            </a:r>
            <a:r>
              <a:rPr lang="zh-CN" altLang="en-US" sz="2000" dirty="0"/>
              <a:t>度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PWM</a:t>
            </a:r>
            <a:r>
              <a:rPr lang="zh-CN" altLang="en-US" sz="2000" b="1" dirty="0"/>
              <a:t>的信号频率稳定</a:t>
            </a:r>
            <a:r>
              <a:rPr lang="en-US" altLang="zh-CN" sz="2000" b="1" dirty="0"/>
              <a:t>=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910HZ</a:t>
            </a:r>
          </a:p>
          <a:p>
            <a:pPr marL="0" indent="0">
              <a:buNone/>
            </a:pPr>
            <a:r>
              <a:rPr lang="zh-CN" altLang="en-US" sz="2000" b="1" dirty="0"/>
              <a:t>只是占空比发生变化</a:t>
            </a:r>
            <a:endParaRPr lang="en-US" altLang="zh-CN" sz="2000" b="1" dirty="0"/>
          </a:p>
          <a:p>
            <a:pPr marL="0" indent="0">
              <a:buNone/>
            </a:pPr>
            <a:endParaRPr lang="en-US" altLang="zh-CN" sz="2000" b="1" dirty="0"/>
          </a:p>
          <a:p>
            <a:pPr marL="0" indent="0">
              <a:buNone/>
            </a:pPr>
            <a:r>
              <a:rPr lang="en-US" altLang="zh-CN" sz="2000" b="1" dirty="0"/>
              <a:t> 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230D35-1E93-FF6C-B945-933669AC5B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8" b="89888" l="6063" r="89895">
                        <a14:foregroundMark x1="30492" y1="59925" x2="30492" y2="59925"/>
                        <a14:foregroundMark x1="29701" y1="74345" x2="29701" y2="74345"/>
                        <a14:foregroundMark x1="7469" y1="17228" x2="7469" y2="17228"/>
                        <a14:foregroundMark x1="6063" y1="46629" x2="6063" y2="46629"/>
                        <a14:foregroundMark x1="31898" y1="40637" x2="31898" y2="40637"/>
                        <a14:backgroundMark x1="53954" y1="14607" x2="53954" y2="14607"/>
                        <a14:backgroundMark x1="95518" y1="47004" x2="95518" y2="47004"/>
                      </a14:backgroundRemoval>
                    </a14:imgEffect>
                  </a14:imgLayer>
                </a14:imgProps>
              </a:ext>
            </a:extLst>
          </a:blip>
          <a:srcRect t="38963" b="44939"/>
          <a:stretch/>
        </p:blipFill>
        <p:spPr>
          <a:xfrm>
            <a:off x="5759577" y="3268650"/>
            <a:ext cx="6429375" cy="4856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AFED6B9-1BD9-1E20-FFF4-D627A4C8AB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8" b="89888" l="6063" r="89895">
                        <a14:foregroundMark x1="30492" y1="59925" x2="30492" y2="59925"/>
                        <a14:foregroundMark x1="29701" y1="74345" x2="29701" y2="74345"/>
                        <a14:foregroundMark x1="7469" y1="17228" x2="7469" y2="17228"/>
                        <a14:foregroundMark x1="6063" y1="46629" x2="6063" y2="46629"/>
                        <a14:foregroundMark x1="31898" y1="40637" x2="31898" y2="40637"/>
                        <a14:backgroundMark x1="53954" y1="14607" x2="53954" y2="14607"/>
                        <a14:backgroundMark x1="95518" y1="47004" x2="95518" y2="47004"/>
                      </a14:backgroundRemoval>
                    </a14:imgEffect>
                  </a14:imgLayer>
                </a14:imgProps>
              </a:ext>
            </a:extLst>
          </a:blip>
          <a:srcRect b="73351"/>
          <a:stretch/>
        </p:blipFill>
        <p:spPr>
          <a:xfrm>
            <a:off x="5669580" y="1306429"/>
            <a:ext cx="6429375" cy="8039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C981FD-E914-C8BF-635F-B8611EBC36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38" b="89888" l="6063" r="89895">
                        <a14:foregroundMark x1="30492" y1="59925" x2="30492" y2="59925"/>
                        <a14:foregroundMark x1="29701" y1="74345" x2="29701" y2="74345"/>
                        <a14:foregroundMark x1="7469" y1="17228" x2="7469" y2="17228"/>
                        <a14:foregroundMark x1="6063" y1="46629" x2="6063" y2="46629"/>
                        <a14:foregroundMark x1="31898" y1="40637" x2="31898" y2="40637"/>
                        <a14:backgroundMark x1="53954" y1="14607" x2="53954" y2="14607"/>
                        <a14:backgroundMark x1="95518" y1="47004" x2="95518" y2="47004"/>
                      </a14:backgroundRemoval>
                    </a14:imgEffect>
                  </a14:imgLayer>
                </a14:imgProps>
              </a:ext>
            </a:extLst>
          </a:blip>
          <a:srcRect t="67379" b="12256"/>
          <a:stretch/>
        </p:blipFill>
        <p:spPr>
          <a:xfrm>
            <a:off x="5861181" y="4458425"/>
            <a:ext cx="6429375" cy="61436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4FFA151-A47C-631C-130B-D22ED9F762FD}"/>
              </a:ext>
            </a:extLst>
          </p:cNvPr>
          <p:cNvSpPr txBox="1"/>
          <p:nvPr/>
        </p:nvSpPr>
        <p:spPr>
          <a:xfrm>
            <a:off x="7705725" y="793467"/>
            <a:ext cx="331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PWM</a:t>
            </a:r>
            <a:r>
              <a:rPr lang="zh-CN" altLang="en-US" sz="1800" dirty="0"/>
              <a:t>信号在不同角度时候输出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C5D476F-49CA-8607-D624-B43EEB603E8C}"/>
              </a:ext>
            </a:extLst>
          </p:cNvPr>
          <p:cNvCxnSpPr/>
          <p:nvPr/>
        </p:nvCxnSpPr>
        <p:spPr>
          <a:xfrm>
            <a:off x="6292976" y="5810250"/>
            <a:ext cx="5362575" cy="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530CCBB-1FA6-0CE0-5071-3A26572E83B2}"/>
              </a:ext>
            </a:extLst>
          </p:cNvPr>
          <p:cNvSpPr txBox="1"/>
          <p:nvPr/>
        </p:nvSpPr>
        <p:spPr>
          <a:xfrm>
            <a:off x="8583739" y="5879867"/>
            <a:ext cx="7888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时间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5916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核心输出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SPI / SSI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6525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BB1B6-B1C9-4D91-AA37-5F8EB685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altLang="zh-CN" dirty="0"/>
              <a:t>SPI</a:t>
            </a:r>
            <a:r>
              <a:rPr lang="zh-CN" altLang="en-US" dirty="0"/>
              <a:t>简介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88133-EAE2-F836-96AA-B1222C53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向客户的</a:t>
            </a:r>
            <a:r>
              <a:rPr lang="en-US" altLang="zh-CN" sz="2000" dirty="0"/>
              <a:t>MCU</a:t>
            </a:r>
          </a:p>
          <a:p>
            <a:pPr marL="0" indent="0">
              <a:buNone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快速</a:t>
            </a:r>
            <a:r>
              <a:rPr lang="en-US" altLang="zh-CN" sz="2000" dirty="0"/>
              <a:t>,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准确</a:t>
            </a:r>
            <a:r>
              <a:rPr lang="zh-CN" altLang="en-US" sz="2000" dirty="0"/>
              <a:t>且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持续</a:t>
            </a:r>
            <a:r>
              <a:rPr lang="zh-CN" altLang="en-US" sz="2000" dirty="0"/>
              <a:t>地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传输二进制角度数值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方便客户利用数字角度信息</a:t>
            </a:r>
            <a:r>
              <a:rPr lang="en-US" altLang="zh-CN" sz="2000" dirty="0"/>
              <a:t>, </a:t>
            </a:r>
            <a:r>
              <a:rPr lang="zh-CN" altLang="en-US" sz="2000" dirty="0"/>
              <a:t>进行一定的计算</a:t>
            </a:r>
            <a:r>
              <a:rPr lang="en-US" altLang="zh-CN" sz="2000" dirty="0"/>
              <a:t>, </a:t>
            </a:r>
            <a:r>
              <a:rPr lang="zh-CN" altLang="en-US" sz="2000" dirty="0"/>
              <a:t>与</a:t>
            </a:r>
            <a:r>
              <a:rPr lang="en-US" altLang="zh-CN" sz="2000" dirty="0"/>
              <a:t>KTH78</a:t>
            </a:r>
            <a:r>
              <a:rPr lang="zh-CN" altLang="en-US" sz="2000" dirty="0"/>
              <a:t>系列一起建构更加复杂的功能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1CA5EA-AE11-F93B-FCE5-1BA564096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457" y="1248102"/>
            <a:ext cx="6155141" cy="43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83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BB1B6-B1C9-4D91-AA37-5F8EB685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altLang="zh-CN" dirty="0"/>
              <a:t>SPI</a:t>
            </a:r>
            <a:r>
              <a:rPr lang="zh-CN" altLang="en-US" dirty="0"/>
              <a:t>的速度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88133-EAE2-F836-96AA-B1222C53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991" y="1940439"/>
            <a:ext cx="3455101" cy="3908586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sz="2000" dirty="0"/>
              <a:t>在</a:t>
            </a:r>
            <a:r>
              <a:rPr lang="en-US" altLang="zh-CN" sz="2000" dirty="0"/>
              <a:t>SPI</a:t>
            </a:r>
            <a:r>
              <a:rPr lang="zh-CN" altLang="en-US" sz="2000" dirty="0"/>
              <a:t>通信中，有四个主要的线路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MOSI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Master Out Slave In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spcBef>
                <a:spcPts val="200"/>
              </a:spcBef>
              <a:buNone/>
            </a:pPr>
            <a:r>
              <a:rPr lang="zh-CN" altLang="en-US" sz="2000" dirty="0"/>
              <a:t>信息通过</a:t>
            </a:r>
            <a:r>
              <a:rPr lang="en-US" altLang="zh-CN" sz="2000" dirty="0"/>
              <a:t>MOSI</a:t>
            </a:r>
            <a:r>
              <a:rPr lang="zh-CN" altLang="en-US" sz="2000" dirty="0"/>
              <a:t>从</a:t>
            </a:r>
            <a:r>
              <a:rPr lang="en-US" altLang="zh-CN" sz="2000" u="sng" dirty="0"/>
              <a:t>MCU(</a:t>
            </a:r>
            <a:r>
              <a:rPr lang="zh-CN" altLang="en-US" sz="2000" u="sng" dirty="0"/>
              <a:t>主设备</a:t>
            </a:r>
            <a:r>
              <a:rPr lang="en-US" altLang="zh-CN" sz="2000" u="sng" dirty="0"/>
              <a:t>)</a:t>
            </a:r>
            <a:r>
              <a:rPr lang="zh-CN" altLang="en-US" sz="2000" dirty="0"/>
              <a:t>发给</a:t>
            </a:r>
            <a:r>
              <a:rPr lang="en-US" altLang="zh-CN" sz="2000" u="sng" dirty="0"/>
              <a:t>KTH78</a:t>
            </a:r>
            <a:r>
              <a:rPr lang="zh-CN" altLang="en-US" sz="2000" dirty="0"/>
              <a:t>系列传感器</a:t>
            </a:r>
            <a:endParaRPr lang="en-US" altLang="zh-CN" sz="2000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MISO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Master In Slave Out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spcBef>
                <a:spcPts val="200"/>
              </a:spcBef>
              <a:buNone/>
            </a:pPr>
            <a:r>
              <a:rPr lang="zh-CN" altLang="en-US" sz="2000" dirty="0"/>
              <a:t>信息通过</a:t>
            </a:r>
            <a:r>
              <a:rPr lang="en-US" altLang="zh-CN" sz="2000" dirty="0"/>
              <a:t>MISO</a:t>
            </a:r>
            <a:r>
              <a:rPr lang="zh-CN" altLang="en-US" sz="2000" dirty="0"/>
              <a:t>从</a:t>
            </a:r>
            <a:r>
              <a:rPr lang="en-US" altLang="zh-CN" sz="2000" u="sng" dirty="0"/>
              <a:t>KTH78</a:t>
            </a:r>
            <a:r>
              <a:rPr lang="zh-CN" altLang="en-US" sz="2000" dirty="0"/>
              <a:t>系列传感器传送给</a:t>
            </a:r>
            <a:r>
              <a:rPr lang="en-US" altLang="zh-CN" sz="2000" u="sng" dirty="0"/>
              <a:t>MCU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SCLK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Serial Clock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spcBef>
                <a:spcPts val="200"/>
              </a:spcBef>
              <a:buNone/>
            </a:pPr>
            <a:r>
              <a:rPr lang="zh-CN" altLang="en-US" sz="1800" dirty="0"/>
              <a:t>信号时钟</a:t>
            </a:r>
            <a:r>
              <a:rPr lang="en-US" altLang="zh-CN" sz="1800" dirty="0"/>
              <a:t>, </a:t>
            </a:r>
            <a:r>
              <a:rPr lang="zh-CN" altLang="en-US" sz="1800" dirty="0"/>
              <a:t>协调</a:t>
            </a:r>
            <a:r>
              <a:rPr lang="en-US" altLang="zh-CN" sz="1800" dirty="0"/>
              <a:t>MOSI</a:t>
            </a:r>
            <a:r>
              <a:rPr lang="zh-CN" altLang="en-US" sz="1800" dirty="0"/>
              <a:t>和</a:t>
            </a:r>
            <a:r>
              <a:rPr lang="en-US" altLang="zh-CN" sz="1800" dirty="0"/>
              <a:t>MISO</a:t>
            </a:r>
            <a:r>
              <a:rPr lang="zh-CN" altLang="en-US" sz="1800" dirty="0"/>
              <a:t>传输的节奏</a:t>
            </a:r>
            <a:endParaRPr lang="en-US" altLang="zh-CN" sz="1800" dirty="0"/>
          </a:p>
          <a:p>
            <a:pPr marL="0" indent="0">
              <a:lnSpc>
                <a:spcPct val="170000"/>
              </a:lnSpc>
              <a:spcBef>
                <a:spcPts val="200"/>
              </a:spcBef>
              <a:buNone/>
            </a:pPr>
            <a:r>
              <a:rPr lang="zh-CN" altLang="en-US" sz="1800" dirty="0"/>
              <a:t>每个时钟</a:t>
            </a:r>
            <a:r>
              <a:rPr lang="en-US" altLang="zh-CN" sz="1800" dirty="0"/>
              <a:t>MOSI</a:t>
            </a:r>
            <a:r>
              <a:rPr lang="zh-CN" altLang="en-US" sz="1800" dirty="0"/>
              <a:t>和</a:t>
            </a:r>
            <a:r>
              <a:rPr lang="en-US" altLang="zh-CN" sz="1800" dirty="0"/>
              <a:t>MISO</a:t>
            </a:r>
            <a:r>
              <a:rPr lang="zh-CN" altLang="en-US" sz="1800" dirty="0"/>
              <a:t>分别传输</a:t>
            </a:r>
            <a:r>
              <a:rPr lang="en-US" altLang="zh-CN" sz="1800" dirty="0"/>
              <a:t>1</a:t>
            </a:r>
            <a:r>
              <a:rPr lang="zh-CN" altLang="en-US" sz="1800" dirty="0"/>
              <a:t>个比特数据</a:t>
            </a:r>
            <a:r>
              <a:rPr lang="en-US" altLang="zh-CN" sz="1800" dirty="0"/>
              <a:t>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Slave Select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spcBef>
                <a:spcPts val="200"/>
              </a:spcBef>
              <a:buNone/>
            </a:pPr>
            <a:r>
              <a:rPr lang="zh-CN" altLang="en-US" sz="1800" dirty="0"/>
              <a:t>只是</a:t>
            </a:r>
            <a:r>
              <a:rPr lang="en-US" altLang="zh-CN" sz="1800" dirty="0"/>
              <a:t>MCU</a:t>
            </a:r>
            <a:r>
              <a:rPr lang="zh-CN" altLang="en-US" sz="1800" dirty="0"/>
              <a:t>通知</a:t>
            </a:r>
            <a:r>
              <a:rPr lang="en-US" altLang="zh-CN" sz="1800" dirty="0"/>
              <a:t>(SS=0)KTH78</a:t>
            </a:r>
            <a:r>
              <a:rPr lang="zh-CN" altLang="en-US" sz="1800" dirty="0"/>
              <a:t>系列传感器现在可以传输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10D772-F1BA-9D40-3197-3EC545ED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797" y="2582146"/>
            <a:ext cx="6488406" cy="11323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B5AAD05-9886-6303-82A1-952CCF9839B2}"/>
              </a:ext>
            </a:extLst>
          </p:cNvPr>
          <p:cNvSpPr txBox="1"/>
          <p:nvPr/>
        </p:nvSpPr>
        <p:spPr>
          <a:xfrm>
            <a:off x="5275083" y="4192106"/>
            <a:ext cx="6097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SCLK </a:t>
            </a:r>
            <a:r>
              <a:rPr lang="zh-CN" altLang="en-US" sz="1800" dirty="0"/>
              <a:t>信号的频率 </a:t>
            </a:r>
            <a:r>
              <a:rPr lang="en-US" altLang="zh-CN" dirty="0"/>
              <a:t>= SPI </a:t>
            </a:r>
            <a:r>
              <a:rPr lang="zh-CN" altLang="en-US" dirty="0"/>
              <a:t>传输的速度</a:t>
            </a:r>
            <a:endParaRPr lang="en-US" altLang="zh-CN" dirty="0"/>
          </a:p>
          <a:p>
            <a:r>
              <a:rPr lang="en-US" altLang="zh-CN" dirty="0"/>
              <a:t>KTH78</a:t>
            </a:r>
            <a:r>
              <a:rPr lang="zh-CN" altLang="en-US" dirty="0"/>
              <a:t>系列的</a:t>
            </a:r>
            <a:r>
              <a:rPr lang="en-US" altLang="zh-CN" dirty="0"/>
              <a:t>SPI</a:t>
            </a:r>
            <a:r>
              <a:rPr lang="zh-CN" altLang="en-US" dirty="0"/>
              <a:t>最快频率是</a:t>
            </a:r>
            <a:r>
              <a:rPr lang="en-US" altLang="zh-CN" dirty="0"/>
              <a:t>10Mhz</a:t>
            </a:r>
          </a:p>
          <a:p>
            <a:r>
              <a:rPr lang="zh-CN" altLang="en-US" dirty="0"/>
              <a:t>双向传输码率为 </a:t>
            </a:r>
            <a:r>
              <a:rPr lang="en-US" altLang="zh-CN" dirty="0"/>
              <a:t>10Mbits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2054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BB1B6-B1C9-4D91-AA37-5F8EB685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altLang="zh-CN" dirty="0"/>
              <a:t>SPI</a:t>
            </a:r>
            <a:r>
              <a:rPr lang="zh-CN" altLang="en-US" dirty="0"/>
              <a:t>的作用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88133-EAE2-F836-96AA-B1222C53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719" y="2550039"/>
            <a:ext cx="7438758" cy="3908586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客户通过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MOSI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控制芯片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内部存储器的写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从而设置运行参数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客户通过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MISO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读取当前二进制角度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 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存储器的读</a:t>
            </a:r>
            <a:endParaRPr lang="en-US" altLang="zh-CN" sz="2000" u="sng" dirty="0">
              <a:solidFill>
                <a:srgbClr val="FF000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9828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BB1B6-B1C9-4D91-AA37-5F8EB685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4901829" cy="1330839"/>
          </a:xfrm>
        </p:spPr>
        <p:txBody>
          <a:bodyPr>
            <a:normAutofit/>
          </a:bodyPr>
          <a:lstStyle/>
          <a:p>
            <a:r>
              <a:rPr lang="en-US" altLang="zh-CN" dirty="0"/>
              <a:t>SPI</a:t>
            </a:r>
            <a:r>
              <a:rPr lang="zh-CN" altLang="en-US" dirty="0"/>
              <a:t>的准确</a:t>
            </a:r>
            <a:r>
              <a:rPr lang="en-US" altLang="zh-CN" dirty="0"/>
              <a:t>(CRC)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88133-EAE2-F836-96AA-B1222C53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5421"/>
            <a:ext cx="4185885" cy="4822311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是一种数据校验技术</a:t>
            </a:r>
            <a:endParaRPr lang="en-US" altLang="zh-CN" sz="16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用于检测在数据传输过程中是否出错。</a:t>
            </a:r>
            <a:endParaRPr lang="en-US" altLang="zh-CN" sz="160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的输出时候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先发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位的数据 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再发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校验位 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MCU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会比对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接收到的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自己算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是否一致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从而信息传输是否准确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校验可以通过参数开启或者关闭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F08557-03B4-F13D-2BD4-40582287F817}"/>
              </a:ext>
            </a:extLst>
          </p:cNvPr>
          <p:cNvSpPr txBox="1"/>
          <p:nvPr/>
        </p:nvSpPr>
        <p:spPr>
          <a:xfrm>
            <a:off x="5410200" y="673797"/>
            <a:ext cx="6340350" cy="594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你要给朋友传递一张纸上写的消息，而这张纸上只有数字。为了确保你的朋友收到的数字没有出错，你可以使用</a:t>
            </a:r>
            <a:r>
              <a:rPr lang="en-US" altLang="zh-CN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CRC</a:t>
            </a: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。具体步骤如下：</a:t>
            </a:r>
            <a:endParaRPr lang="en-US" altLang="zh-CN" sz="1600" b="0" i="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600" b="0" i="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首先，你和你的朋友事先约定一个规则（称为生成多项式）来计算</a:t>
            </a:r>
            <a:r>
              <a:rPr lang="en-US" altLang="zh-CN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CRC</a:t>
            </a: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1600" b="0" i="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endParaRPr lang="zh-CN" altLang="en-US" sz="1600" b="0" i="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将消息中的数字按照约定的规则进行一系列数学运算（异或操作）得到一个特定的值，这个值就是</a:t>
            </a:r>
            <a:r>
              <a:rPr lang="en-US" altLang="zh-CN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CRC</a:t>
            </a: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校验码。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endParaRPr lang="en-US" altLang="zh-CN" sz="1600" b="0" i="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把消息和</a:t>
            </a:r>
            <a:r>
              <a:rPr lang="en-US" altLang="zh-CN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CRC</a:t>
            </a: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校验码一起传给你的朋友。</a:t>
            </a:r>
          </a:p>
          <a:p>
            <a:pPr algn="l">
              <a:lnSpc>
                <a:spcPct val="150000"/>
              </a:lnSpc>
            </a:pPr>
            <a:endParaRPr lang="en-US" altLang="zh-CN" sz="1600" b="0" i="0" dirty="0"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在接收端，你的朋友也会执行相同的计算，得到一个新的</a:t>
            </a:r>
            <a:r>
              <a:rPr lang="en-US" altLang="zh-CN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CRC</a:t>
            </a: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校验码。然后他将这个新的</a:t>
            </a:r>
            <a:r>
              <a:rPr lang="en-US" altLang="zh-CN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CRC</a:t>
            </a: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校验码与你传过来的</a:t>
            </a:r>
            <a:r>
              <a:rPr lang="en-US" altLang="zh-CN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CRC</a:t>
            </a:r>
            <a:r>
              <a:rPr lang="zh-CN" altLang="en-US" sz="16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校验码进行比较。如果两个校验码相同，说明数据在传输过程中没有出现错误。但如果校验码不一致，那么就意味着数据在传输过程中发生了错误，此时需要重新传输数据或者采取其他纠错措施。</a:t>
            </a:r>
          </a:p>
        </p:txBody>
      </p:sp>
    </p:spTree>
    <p:extLst>
      <p:ext uri="{BB962C8B-B14F-4D97-AF65-F5344CB8AC3E}">
        <p14:creationId xmlns:p14="http://schemas.microsoft.com/office/powerpoint/2010/main" val="2288276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BB1B6-B1C9-4D91-AA37-5F8EB685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18" y="535809"/>
            <a:ext cx="3739341" cy="1330839"/>
          </a:xfrm>
        </p:spPr>
        <p:txBody>
          <a:bodyPr>
            <a:normAutofit/>
          </a:bodyPr>
          <a:lstStyle/>
          <a:p>
            <a:r>
              <a:rPr lang="en-US" altLang="zh-CN" dirty="0"/>
              <a:t>SPI</a:t>
            </a:r>
            <a:r>
              <a:rPr lang="zh-CN" altLang="en-US" dirty="0"/>
              <a:t>的后补</a:t>
            </a:r>
            <a:r>
              <a:rPr lang="en-US" altLang="zh-CN" dirty="0"/>
              <a:t>SSI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788133-EAE2-F836-96AA-B1222C53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6" y="2235714"/>
            <a:ext cx="4321712" cy="3908586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系列的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SSI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相比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减少端口使用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只有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个端口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信号控制与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SPI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略微不同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70000"/>
              </a:lnSpc>
              <a:buNone/>
            </a:pPr>
            <a:endParaRPr lang="en-US" altLang="zh-CN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483B1F-6E7D-B6C8-E679-9C115EAE1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833" y="1579293"/>
            <a:ext cx="7007566" cy="17992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5ACC3B7-4C9D-95B3-CF60-B39D48281974}"/>
              </a:ext>
            </a:extLst>
          </p:cNvPr>
          <p:cNvSpPr txBox="1"/>
          <p:nvPr/>
        </p:nvSpPr>
        <p:spPr>
          <a:xfrm>
            <a:off x="5916307" y="3566781"/>
            <a:ext cx="4207844" cy="1984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b="1" dirty="0"/>
              <a:t>SSD</a:t>
            </a:r>
          </a:p>
          <a:p>
            <a:pPr lvl="1">
              <a:lnSpc>
                <a:spcPct val="170000"/>
              </a:lnSpc>
            </a:pPr>
            <a:r>
              <a:rPr lang="zh-CN" altLang="en-US" sz="1400" b="1" dirty="0"/>
              <a:t>类似</a:t>
            </a:r>
            <a:r>
              <a:rPr lang="en-US" altLang="zh-CN" sz="1400" b="1" dirty="0"/>
              <a:t>SPI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MISO</a:t>
            </a:r>
          </a:p>
          <a:p>
            <a:pPr lvl="1">
              <a:lnSpc>
                <a:spcPct val="170000"/>
              </a:lnSpc>
            </a:pPr>
            <a:r>
              <a:rPr lang="zh-CN" altLang="en-US" sz="1400" b="1" dirty="0"/>
              <a:t>只用来传送当前角度信息</a:t>
            </a:r>
            <a:endParaRPr lang="en-US" altLang="zh-CN" sz="1400" b="1" dirty="0"/>
          </a:p>
          <a:p>
            <a:pPr lvl="1">
              <a:lnSpc>
                <a:spcPct val="170000"/>
              </a:lnSpc>
            </a:pPr>
            <a:r>
              <a:rPr lang="zh-CN" altLang="en-US" sz="1400" b="1" dirty="0"/>
              <a:t>固定输出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位二进制角度</a:t>
            </a:r>
            <a:endParaRPr lang="en-US" altLang="zh-CN" sz="1400" b="1" dirty="0"/>
          </a:p>
          <a:p>
            <a:pPr lvl="1">
              <a:lnSpc>
                <a:spcPct val="170000"/>
              </a:lnSpc>
            </a:pPr>
            <a:r>
              <a:rPr lang="zh-CN" altLang="en-US" sz="1400" b="1" dirty="0"/>
              <a:t>没有</a:t>
            </a:r>
            <a:r>
              <a:rPr lang="en-US" altLang="zh-CN" sz="1400" b="1" dirty="0"/>
              <a:t>CRC</a:t>
            </a:r>
            <a:r>
              <a:rPr lang="zh-CN" altLang="en-US" sz="1400" b="1" dirty="0"/>
              <a:t>校验</a:t>
            </a:r>
            <a:endParaRPr lang="en-US" altLang="zh-CN" sz="1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3B69BD-365C-7FBF-8DD8-16DCE982ECC4}"/>
              </a:ext>
            </a:extLst>
          </p:cNvPr>
          <p:cNvSpPr txBox="1"/>
          <p:nvPr/>
        </p:nvSpPr>
        <p:spPr>
          <a:xfrm>
            <a:off x="8854806" y="3566781"/>
            <a:ext cx="4207844" cy="1618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CN" b="1" dirty="0"/>
              <a:t>SSCK</a:t>
            </a:r>
          </a:p>
          <a:p>
            <a:pPr lvl="1">
              <a:lnSpc>
                <a:spcPct val="170000"/>
              </a:lnSpc>
            </a:pPr>
            <a:r>
              <a:rPr lang="zh-CN" altLang="en-US" sz="1400" b="1" dirty="0"/>
              <a:t>类似</a:t>
            </a:r>
            <a:r>
              <a:rPr lang="en-US" altLang="zh-CN" sz="1400" b="1" dirty="0"/>
              <a:t>SPI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SCLK</a:t>
            </a:r>
          </a:p>
          <a:p>
            <a:pPr lvl="1">
              <a:lnSpc>
                <a:spcPct val="170000"/>
              </a:lnSpc>
            </a:pPr>
            <a:r>
              <a:rPr lang="zh-CN" altLang="en-US" sz="1400" b="1" dirty="0"/>
              <a:t>用来控制传送速度</a:t>
            </a:r>
            <a:endParaRPr lang="en-US" altLang="zh-CN" sz="1400" b="1" dirty="0"/>
          </a:p>
          <a:p>
            <a:pPr lvl="1">
              <a:lnSpc>
                <a:spcPct val="170000"/>
              </a:lnSpc>
            </a:pPr>
            <a:r>
              <a:rPr lang="zh-CN" altLang="en-US" sz="1400" b="1" dirty="0"/>
              <a:t>客户控制</a:t>
            </a:r>
            <a:r>
              <a:rPr lang="en-US" altLang="zh-CN" sz="1400" b="1" dirty="0"/>
              <a:t> </a:t>
            </a:r>
            <a:r>
              <a:rPr lang="zh-CN" altLang="en-US" sz="1400" b="1" dirty="0"/>
              <a:t>最快</a:t>
            </a:r>
            <a:r>
              <a:rPr lang="en-US" altLang="zh-CN" sz="1400" b="1" dirty="0"/>
              <a:t>1.5Mhz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00754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典型应用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在轴</a:t>
            </a:r>
            <a:r>
              <a:rPr lang="en-US" altLang="zh-CN" dirty="0"/>
              <a:t> / </a:t>
            </a:r>
            <a:r>
              <a:rPr lang="zh-CN" altLang="en-US" dirty="0"/>
              <a:t>离轴</a:t>
            </a:r>
          </a:p>
        </p:txBody>
      </p:sp>
    </p:spTree>
    <p:extLst>
      <p:ext uri="{BB962C8B-B14F-4D97-AF65-F5344CB8AC3E}">
        <p14:creationId xmlns:p14="http://schemas.microsoft.com/office/powerpoint/2010/main" val="2531009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1F888-CE7B-4846-A598-480C015E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61" y="0"/>
            <a:ext cx="11933789" cy="1339913"/>
          </a:xfrm>
        </p:spPr>
        <p:txBody>
          <a:bodyPr/>
          <a:lstStyle/>
          <a:p>
            <a:pPr algn="ctr"/>
            <a:r>
              <a:rPr lang="zh-CN" altLang="en-US" dirty="0"/>
              <a:t>在轴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762A4-4BCD-8FEA-0E79-5A2BD7031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0425" y="1825625"/>
            <a:ext cx="414337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lang="zh-CN" altLang="en-US" dirty="0"/>
              <a:t>传感器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垂直中心轴与磁铁转轴在一条直线上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好处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信号稳定</a:t>
            </a:r>
            <a:endParaRPr lang="en-US" altLang="zh-CN" sz="20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坏处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校准困难</a:t>
            </a:r>
            <a:r>
              <a:rPr lang="en-US" altLang="zh-CN" sz="2000" dirty="0"/>
              <a:t>, </a:t>
            </a:r>
            <a:r>
              <a:rPr lang="zh-CN" altLang="en-US" sz="2000" dirty="0"/>
              <a:t>很难准确摆放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7DBD02-E927-B02D-81EE-93CA17AF4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5006"/>
          <a:stretch/>
        </p:blipFill>
        <p:spPr>
          <a:xfrm>
            <a:off x="588696" y="2740869"/>
            <a:ext cx="4694754" cy="12604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CFE0EA-1F62-C377-CD5D-45020AA7A9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050"/>
          <a:stretch/>
        </p:blipFill>
        <p:spPr>
          <a:xfrm>
            <a:off x="2191822" y="1825625"/>
            <a:ext cx="4694754" cy="383009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2AC391E-7DDB-E303-41FA-7865E65A4B3F}"/>
              </a:ext>
            </a:extLst>
          </p:cNvPr>
          <p:cNvCxnSpPr>
            <a:cxnSpLocks/>
          </p:cNvCxnSpPr>
          <p:nvPr/>
        </p:nvCxnSpPr>
        <p:spPr>
          <a:xfrm>
            <a:off x="1619250" y="3324225"/>
            <a:ext cx="572572" cy="5638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927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1F888-CE7B-4846-A598-480C015E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61" y="0"/>
            <a:ext cx="11933789" cy="1339913"/>
          </a:xfrm>
        </p:spPr>
        <p:txBody>
          <a:bodyPr/>
          <a:lstStyle/>
          <a:p>
            <a:pPr algn="ctr"/>
            <a:r>
              <a:rPr lang="zh-CN" altLang="en-US" dirty="0"/>
              <a:t>离轴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762A4-4BCD-8FEA-0E79-5A2BD7031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0425" y="1825625"/>
            <a:ext cx="414337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lang="zh-CN" altLang="en-US" dirty="0"/>
              <a:t>传感器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放在转动磁铁侧边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坏处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信号有很大误差需要进行修正</a:t>
            </a:r>
            <a:r>
              <a:rPr lang="en-US" altLang="zh-CN" sz="2000" dirty="0"/>
              <a:t>(</a:t>
            </a:r>
            <a:r>
              <a:rPr lang="zh-CN" altLang="en-US" sz="2000" dirty="0"/>
              <a:t>芯片可以自我修正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dirty="0"/>
              <a:t>好处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摆放方便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CFE0EA-1F62-C377-CD5D-45020AA7A9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050"/>
          <a:stretch/>
        </p:blipFill>
        <p:spPr>
          <a:xfrm>
            <a:off x="1972747" y="2086249"/>
            <a:ext cx="4694754" cy="38300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7B09D6A-9172-9483-9218-49DE9B2B911F}"/>
              </a:ext>
            </a:extLst>
          </p:cNvPr>
          <p:cNvSpPr txBox="1"/>
          <p:nvPr/>
        </p:nvSpPr>
        <p:spPr>
          <a:xfrm>
            <a:off x="2238374" y="6293343"/>
            <a:ext cx="8505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务必注意：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离轴的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摆放可能技术复杂度比较高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客户一般需要我们人员配合设计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9339B-03E0-58EE-6316-D25C3F70C4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750" b="75006"/>
          <a:stretch/>
        </p:blipFill>
        <p:spPr>
          <a:xfrm>
            <a:off x="2391846" y="1339913"/>
            <a:ext cx="1561029" cy="12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59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9076F0-3D7A-5C57-F2E2-E194B3004C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芯片使用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85409B16-67C9-FE99-E9AE-0A69CCB74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封装</a:t>
            </a:r>
            <a:r>
              <a:rPr lang="en-US" altLang="zh-CN" dirty="0"/>
              <a:t>/</a:t>
            </a:r>
            <a:r>
              <a:rPr lang="zh-CN" altLang="en-US" dirty="0"/>
              <a:t>供电</a:t>
            </a:r>
          </a:p>
        </p:txBody>
      </p:sp>
    </p:spTree>
    <p:extLst>
      <p:ext uri="{BB962C8B-B14F-4D97-AF65-F5344CB8AC3E}">
        <p14:creationId xmlns:p14="http://schemas.microsoft.com/office/powerpoint/2010/main" val="1948773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140FFF-1955-E56B-47D7-DDFAF888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种封装 </a:t>
            </a:r>
            <a:r>
              <a:rPr lang="en-US" altLang="zh-CN" dirty="0"/>
              <a:t>/ 2</a:t>
            </a:r>
            <a:r>
              <a:rPr lang="zh-CN" altLang="en-US" dirty="0"/>
              <a:t>种供电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931EE3-855E-272F-AF12-EF85CE9D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05" y="1574297"/>
            <a:ext cx="2933995" cy="26168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6615250-C88A-88D9-85E3-3C9F3C2AB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224" y="1956369"/>
            <a:ext cx="2229117" cy="194077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C41B7E7-B26F-C80A-024A-5CAAAE23BFB7}"/>
              </a:ext>
            </a:extLst>
          </p:cNvPr>
          <p:cNvSpPr txBox="1"/>
          <p:nvPr/>
        </p:nvSpPr>
        <p:spPr>
          <a:xfrm>
            <a:off x="7515224" y="4378127"/>
            <a:ext cx="234288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SOP-8 4.9mmx6mm</a:t>
            </a:r>
            <a:endParaRPr lang="en-US" altLang="zh-CN" dirty="0"/>
          </a:p>
          <a:p>
            <a:pPr algn="ctr"/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更少的引脚数量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EE1DE6-4A00-E66E-300D-5C33DE32B908}"/>
              </a:ext>
            </a:extLst>
          </p:cNvPr>
          <p:cNvSpPr txBox="1"/>
          <p:nvPr/>
        </p:nvSpPr>
        <p:spPr>
          <a:xfrm>
            <a:off x="1901067" y="4405412"/>
            <a:ext cx="234288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SOP-8 4.9mmx6mm</a:t>
            </a:r>
            <a:endParaRPr lang="en-US" altLang="zh-CN" dirty="0"/>
          </a:p>
          <a:p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可以和一些竞品兼容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5228D2-3BC8-8D76-1495-F29315FB72D5}"/>
              </a:ext>
            </a:extLst>
          </p:cNvPr>
          <p:cNvSpPr txBox="1"/>
          <p:nvPr/>
        </p:nvSpPr>
        <p:spPr>
          <a:xfrm>
            <a:off x="3048000" y="5574603"/>
            <a:ext cx="6096000" cy="88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buClr>
                <a:srgbClr val="C00000"/>
              </a:buClr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VDD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为供电口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根据型号不同可选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3.3V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与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5V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ts val="3300"/>
              </a:lnSpc>
              <a:buClr>
                <a:srgbClr val="C00000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方便兼容客户的现有应用场景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212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9628C77-9009-2532-BCEF-B24F8BC918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240" y="335898"/>
            <a:ext cx="1947311" cy="32515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4D4CB62-F299-3F74-BE33-F42A9D6DE238}"/>
              </a:ext>
            </a:extLst>
          </p:cNvPr>
          <p:cNvSpPr/>
          <p:nvPr/>
        </p:nvSpPr>
        <p:spPr>
          <a:xfrm>
            <a:off x="1181355" y="413928"/>
            <a:ext cx="623098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高转速磁编</a:t>
            </a:r>
            <a:r>
              <a:rPr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9C6CA48-40E2-2E40-351A-BF8CE86A136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4471" y="452018"/>
            <a:ext cx="431800" cy="447040"/>
            <a:chOff x="1217" y="1730"/>
            <a:chExt cx="840" cy="870"/>
          </a:xfrm>
        </p:grpSpPr>
        <p:pic>
          <p:nvPicPr>
            <p:cNvPr id="7" name="图片 6" descr="saomiao">
              <a:extLst>
                <a:ext uri="{FF2B5EF4-FFF2-40B4-BE49-F238E27FC236}">
                  <a16:creationId xmlns:a16="http://schemas.microsoft.com/office/drawing/2014/main" id="{2BD12783-E5B0-D70F-449B-8750637CC46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217" y="1730"/>
              <a:ext cx="840" cy="870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2ED36FE-3854-D4A2-6CFE-42E44A738BEE}"/>
                </a:ext>
              </a:extLst>
            </p:cNvPr>
            <p:cNvGrpSpPr/>
            <p:nvPr/>
          </p:nvGrpSpPr>
          <p:grpSpPr>
            <a:xfrm>
              <a:off x="1498" y="2073"/>
              <a:ext cx="279" cy="184"/>
              <a:chOff x="1490" y="2076"/>
              <a:chExt cx="279" cy="184"/>
            </a:xfrm>
          </p:grpSpPr>
          <p:sp>
            <p:nvSpPr>
              <p:cNvPr id="11" name="圆角矩形 14">
                <a:extLst>
                  <a:ext uri="{FF2B5EF4-FFF2-40B4-BE49-F238E27FC236}">
                    <a16:creationId xmlns:a16="http://schemas.microsoft.com/office/drawing/2014/main" id="{E9901DCA-78B4-3181-1C64-380D36D4926D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490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圆角矩形 16">
                <a:extLst>
                  <a:ext uri="{FF2B5EF4-FFF2-40B4-BE49-F238E27FC236}">
                    <a16:creationId xmlns:a16="http://schemas.microsoft.com/office/drawing/2014/main" id="{6B893ABE-1D00-D626-40D1-4402DFEB453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25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1179AEE6-628A-1503-EA28-3C269D776C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7247" y="1301800"/>
            <a:ext cx="4694754" cy="504289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6ADD153-ADE0-F9E6-BC87-FC050CC6923B}"/>
              </a:ext>
            </a:extLst>
          </p:cNvPr>
          <p:cNvSpPr txBox="1"/>
          <p:nvPr/>
        </p:nvSpPr>
        <p:spPr>
          <a:xfrm>
            <a:off x="662786" y="1144173"/>
            <a:ext cx="7268120" cy="508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适用于</a:t>
            </a:r>
            <a:r>
              <a:rPr lang="zh-CN" altLang="en-US" b="1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离轴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和在轴安装</a:t>
            </a:r>
            <a:endParaRPr lang="en-US" altLang="zh-CN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ABZ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UVW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增量输出，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SPI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绝对值输出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ABZ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1~1024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线（每对极磁极）分辨率可编程</a:t>
            </a:r>
            <a:endParaRPr lang="en-US" altLang="zh-CN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UVW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1~8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对极（每对极磁极）分辨率可编程</a:t>
            </a:r>
            <a:endParaRPr lang="en-US" altLang="zh-CN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线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SPI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接口读写内部寄存器及读取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16bit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角度值</a:t>
            </a:r>
            <a:endParaRPr lang="en-US" altLang="zh-CN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两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线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SSI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接口读取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16bit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角度值</a:t>
            </a:r>
            <a:endParaRPr lang="en-US" altLang="zh-CN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支持最高转速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120,000 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转</a:t>
            </a:r>
            <a:r>
              <a:rPr lang="en-US" altLang="zh-CN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分钟</a:t>
            </a:r>
            <a:endParaRPr lang="en-US" altLang="zh-CN" b="1" strike="sngStrike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45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内置强大的校准和补偿算法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ts val="33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E2AC2B-CA3E-F69D-DB2E-70B5F6911B71}"/>
              </a:ext>
            </a:extLst>
          </p:cNvPr>
          <p:cNvSpPr txBox="1"/>
          <p:nvPr/>
        </p:nvSpPr>
        <p:spPr>
          <a:xfrm>
            <a:off x="556907" y="5755765"/>
            <a:ext cx="9398726" cy="88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应用例举：绝对角度位置检测、无刷直流电机、离轴角度检测、汽车角度检测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应用例举：步进电机，空心杯电机，电梯，屏蔽门，机器人、舞台灯光，自动化设备，电动螺丝刀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12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9628C77-9009-2532-BCEF-B24F8BC918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240" y="335898"/>
            <a:ext cx="1947311" cy="32515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4D4CB62-F299-3F74-BE33-F42A9D6DE238}"/>
              </a:ext>
            </a:extLst>
          </p:cNvPr>
          <p:cNvSpPr/>
          <p:nvPr/>
        </p:nvSpPr>
        <p:spPr>
          <a:xfrm>
            <a:off x="1374027" y="413928"/>
            <a:ext cx="780916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昆泰高速磁编</a:t>
            </a:r>
            <a:r>
              <a:rPr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系列参数说明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6E8483-C84F-9CBC-531B-AFCEA625129E}"/>
              </a:ext>
            </a:extLst>
          </p:cNvPr>
          <p:cNvSpPr txBox="1"/>
          <p:nvPr/>
        </p:nvSpPr>
        <p:spPr>
          <a:xfrm>
            <a:off x="1253227" y="1075305"/>
            <a:ext cx="10451919" cy="638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3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分辨率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即角度输出的可测量的最小单位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ABZ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输出的最大为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1024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线（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4096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步）即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ABZ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的分辨率最大为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12bit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SPI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输出最多可以输出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位的角度数据，分辨率最大可以为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16bit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注意：当客户使用 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SPI CRC 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校验模式时，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SPI 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的输出数据为 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 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位的数据 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+CRC 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校验位 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位，最大分辨率为 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12bit;</a:t>
            </a:r>
          </a:p>
          <a:p>
            <a:pPr marL="285750" indent="-285750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PWM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输出的解析度为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14bit;</a:t>
            </a:r>
          </a:p>
          <a:p>
            <a:pPr>
              <a:lnSpc>
                <a:spcPts val="3300"/>
              </a:lnSpc>
            </a:pP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因为输出角度从 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0-360 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度对应的占空比为 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32/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16384+64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16384+32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16384+64</a:t>
            </a:r>
            <a:r>
              <a:rPr lang="zh-CN" altLang="en-US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4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b="1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  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有效分辨率</a:t>
            </a:r>
            <a:r>
              <a:rPr lang="en-US" altLang="zh-CN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 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角度编码器的真实测量的角度输出分辨率</a:t>
            </a:r>
            <a:endParaRPr lang="en-US" altLang="zh-CN" b="1" strike="sngStrike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SPI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ABZ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SSI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的有效分辨率都是一致的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KTH7801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，其有效分辨率为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16bit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输出的角度数据为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16bit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时，前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12bit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数据稳定（正态分布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±3σ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ABZ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最高输出为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12bit,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的输出脉冲是几乎不抖动的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  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供电 </a:t>
            </a: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3.3V 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与 </a:t>
            </a: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5V </a:t>
            </a:r>
            <a:r>
              <a:rPr lang="zh-CN" altLang="en-US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可选</a:t>
            </a:r>
            <a:endParaRPr lang="en-US" altLang="zh-CN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有对应型号，不可混用，送样前需要确认好电压；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00"/>
              </a:lnSpc>
              <a:buClr>
                <a:srgbClr val="C00000"/>
              </a:buClr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9C6CA48-40E2-2E40-351A-BF8CE86A136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87979" y="452018"/>
            <a:ext cx="431800" cy="447040"/>
            <a:chOff x="1217" y="1730"/>
            <a:chExt cx="840" cy="870"/>
          </a:xfrm>
        </p:grpSpPr>
        <p:pic>
          <p:nvPicPr>
            <p:cNvPr id="7" name="图片 6" descr="saomiao">
              <a:extLst>
                <a:ext uri="{FF2B5EF4-FFF2-40B4-BE49-F238E27FC236}">
                  <a16:creationId xmlns:a16="http://schemas.microsoft.com/office/drawing/2014/main" id="{2BD12783-E5B0-D70F-449B-8750637CC46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217" y="1730"/>
              <a:ext cx="840" cy="870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2ED36FE-3854-D4A2-6CFE-42E44A738BEE}"/>
                </a:ext>
              </a:extLst>
            </p:cNvPr>
            <p:cNvGrpSpPr/>
            <p:nvPr/>
          </p:nvGrpSpPr>
          <p:grpSpPr>
            <a:xfrm>
              <a:off x="1498" y="2073"/>
              <a:ext cx="279" cy="184"/>
              <a:chOff x="1490" y="2076"/>
              <a:chExt cx="279" cy="184"/>
            </a:xfrm>
          </p:grpSpPr>
          <p:sp>
            <p:nvSpPr>
              <p:cNvPr id="11" name="圆角矩形 14">
                <a:extLst>
                  <a:ext uri="{FF2B5EF4-FFF2-40B4-BE49-F238E27FC236}">
                    <a16:creationId xmlns:a16="http://schemas.microsoft.com/office/drawing/2014/main" id="{E9901DCA-78B4-3181-1C64-380D36D4926D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490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圆角矩形 16">
                <a:extLst>
                  <a:ext uri="{FF2B5EF4-FFF2-40B4-BE49-F238E27FC236}">
                    <a16:creationId xmlns:a16="http://schemas.microsoft.com/office/drawing/2014/main" id="{6B893ABE-1D00-D626-40D1-4402DFEB453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25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4562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9628C77-9009-2532-BCEF-B24F8BC918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240" y="335898"/>
            <a:ext cx="1947311" cy="3251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E08F8D0-1BCD-2E87-9800-2ECDF7F8750E}"/>
              </a:ext>
            </a:extLst>
          </p:cNvPr>
          <p:cNvSpPr/>
          <p:nvPr/>
        </p:nvSpPr>
        <p:spPr>
          <a:xfrm>
            <a:off x="1374028" y="413928"/>
            <a:ext cx="76031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昆泰高速磁编</a:t>
            </a:r>
            <a:r>
              <a:rPr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系列参数说明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65380BB-3432-1607-D000-8B9257E8ED1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987979" y="452018"/>
            <a:ext cx="431800" cy="447040"/>
            <a:chOff x="1217" y="1730"/>
            <a:chExt cx="840" cy="870"/>
          </a:xfrm>
        </p:grpSpPr>
        <p:pic>
          <p:nvPicPr>
            <p:cNvPr id="6" name="图片 5" descr="saomiao">
              <a:extLst>
                <a:ext uri="{FF2B5EF4-FFF2-40B4-BE49-F238E27FC236}">
                  <a16:creationId xmlns:a16="http://schemas.microsoft.com/office/drawing/2014/main" id="{0FB54BAD-DAC2-CFA2-8BB9-B4B0C68DE898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217" y="1730"/>
              <a:ext cx="840" cy="870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531960C-CBC3-63B7-ECE6-0588F71B1896}"/>
                </a:ext>
              </a:extLst>
            </p:cNvPr>
            <p:cNvGrpSpPr/>
            <p:nvPr/>
          </p:nvGrpSpPr>
          <p:grpSpPr>
            <a:xfrm>
              <a:off x="1498" y="2073"/>
              <a:ext cx="279" cy="184"/>
              <a:chOff x="1490" y="2076"/>
              <a:chExt cx="279" cy="184"/>
            </a:xfrm>
          </p:grpSpPr>
          <p:sp>
            <p:nvSpPr>
              <p:cNvPr id="8" name="圆角矩形 14">
                <a:extLst>
                  <a:ext uri="{FF2B5EF4-FFF2-40B4-BE49-F238E27FC236}">
                    <a16:creationId xmlns:a16="http://schemas.microsoft.com/office/drawing/2014/main" id="{6DA5998A-8AC4-A8C3-AF69-B39AEE475C6D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1490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圆角矩形 16">
                <a:extLst>
                  <a:ext uri="{FF2B5EF4-FFF2-40B4-BE49-F238E27FC236}">
                    <a16:creationId xmlns:a16="http://schemas.microsoft.com/office/drawing/2014/main" id="{2C596F64-0E44-EF92-DEFC-D439CE9CCB1A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725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B982720-7A25-11F5-105B-76F2C4E851FC}"/>
              </a:ext>
            </a:extLst>
          </p:cNvPr>
          <p:cNvSpPr txBox="1"/>
          <p:nvPr/>
        </p:nvSpPr>
        <p:spPr>
          <a:xfrm>
            <a:off x="870040" y="880738"/>
            <a:ext cx="10451919" cy="4690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4.  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噪声</a:t>
            </a:r>
            <a:r>
              <a:rPr lang="en-US" altLang="zh-CN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 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抖动的数据</a:t>
            </a:r>
            <a:endParaRPr lang="en-US" altLang="zh-CN" b="1" strike="sngStrike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KTH7801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为例，其有效分辨率为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12bit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±3σ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6σ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）抖动的噪声为后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4bit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1σ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的噪声为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360°/(2^12)/6=0.015°</a:t>
            </a: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5. 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精度（绝对精度、重复精度）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绝对精度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的理解是指角度编码器输出的位置数据与真实的 理想数据在一圈中的最大峰峰值；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重复精度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为多次旋转固定位置角度输出的误差的最大值。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如下图，黑色和红色线分别为两次旋转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0-360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中与真实位置的角度误差，则绝对精度是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度，重复精度为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度，往往重复精度都比绝对精度小的多。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KTH7801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精度为绝对精度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±0.7°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，重复精度为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0.086°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绝对精度往往与安装及磁铁充磁对称性相关，重复精度与噪声相关。</a:t>
            </a:r>
            <a:endParaRPr lang="en-US" altLang="zh-CN" sz="1600" b="1" strike="sngStrike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502D6D0-B367-0E95-D9F8-B3B3715C17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175" y="5156020"/>
            <a:ext cx="3143273" cy="164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0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未标题-2"/>
          <p:cNvPicPr>
            <a:picLocks noChangeAspect="1"/>
          </p:cNvPicPr>
          <p:nvPr/>
        </p:nvPicPr>
        <p:blipFill>
          <a:blip r:embed="rId8"/>
          <a:srcRect t="26818" b="28953"/>
          <a:stretch>
            <a:fillRect/>
          </a:stretch>
        </p:blipFill>
        <p:spPr>
          <a:xfrm>
            <a:off x="10174605" y="435610"/>
            <a:ext cx="1764665" cy="359410"/>
          </a:xfrm>
          <a:prstGeom prst="rect">
            <a:avLst/>
          </a:prstGeom>
          <a:effectLst>
            <a:glow rad="228600">
              <a:schemeClr val="bg1">
                <a:alpha val="74000"/>
              </a:schemeClr>
            </a:glo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645DBDB-C8D1-0F4C-F3AF-530B0D2A7E9B}"/>
              </a:ext>
            </a:extLst>
          </p:cNvPr>
          <p:cNvSpPr/>
          <p:nvPr/>
        </p:nvSpPr>
        <p:spPr>
          <a:xfrm>
            <a:off x="1374028" y="413928"/>
            <a:ext cx="76096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昆泰高速磁编</a:t>
            </a:r>
            <a:r>
              <a:rPr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系列参数说明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3A40F4-8306-0480-2636-CBDCAC69370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87979" y="452018"/>
            <a:ext cx="431800" cy="447040"/>
            <a:chOff x="1217" y="1730"/>
            <a:chExt cx="840" cy="870"/>
          </a:xfrm>
        </p:grpSpPr>
        <p:pic>
          <p:nvPicPr>
            <p:cNvPr id="20" name="图片 19" descr="saomiao">
              <a:extLst>
                <a:ext uri="{FF2B5EF4-FFF2-40B4-BE49-F238E27FC236}">
                  <a16:creationId xmlns:a16="http://schemas.microsoft.com/office/drawing/2014/main" id="{2F733777-BD41-1507-A73F-FEEB5D84E51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217" y="1730"/>
              <a:ext cx="840" cy="870"/>
            </a:xfrm>
            <a:prstGeom prst="rect">
              <a:avLst/>
            </a:prstGeom>
          </p:spPr>
        </p:pic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7783EEBD-D6AB-F9FF-A05B-9064C53F0FDD}"/>
                </a:ext>
              </a:extLst>
            </p:cNvPr>
            <p:cNvGrpSpPr/>
            <p:nvPr/>
          </p:nvGrpSpPr>
          <p:grpSpPr>
            <a:xfrm>
              <a:off x="1498" y="2073"/>
              <a:ext cx="279" cy="184"/>
              <a:chOff x="1490" y="2076"/>
              <a:chExt cx="279" cy="184"/>
            </a:xfrm>
          </p:grpSpPr>
          <p:sp>
            <p:nvSpPr>
              <p:cNvPr id="22" name="圆角矩形 14">
                <a:extLst>
                  <a:ext uri="{FF2B5EF4-FFF2-40B4-BE49-F238E27FC236}">
                    <a16:creationId xmlns:a16="http://schemas.microsoft.com/office/drawing/2014/main" id="{BFDE0CB0-5D25-9EBB-CD38-2D5694D5529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490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圆角矩形 16">
                <a:extLst>
                  <a:ext uri="{FF2B5EF4-FFF2-40B4-BE49-F238E27FC236}">
                    <a16:creationId xmlns:a16="http://schemas.microsoft.com/office/drawing/2014/main" id="{CC8FB3C6-823B-B2BE-1AF1-E8C3185B08E2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1725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E679B0A-4493-4F35-5666-2FB46A1310E2}"/>
              </a:ext>
            </a:extLst>
          </p:cNvPr>
          <p:cNvSpPr txBox="1"/>
          <p:nvPr/>
        </p:nvSpPr>
        <p:spPr>
          <a:xfrm>
            <a:off x="987979" y="1253590"/>
            <a:ext cx="10451919" cy="3921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6. 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延时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指传感器接收到磁场开始到输出角度时总共花费的时间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延时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会影响电机系统的响应，包括磁电信号转换，信号调理，模数转换时间，数据处理，及接口数据输出等部分；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KTH78xx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总延时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3us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左右，匀速旋转的电机可以认为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KTH78xx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延时为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（预测补偿延时位置）。位置数据输出接口延时为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1us(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非常短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  <a:buClr>
                <a:srgbClr val="C00000"/>
              </a:buClr>
            </a:pP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 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通信速率</a:t>
            </a:r>
            <a:r>
              <a:rPr lang="en-US" altLang="zh-CN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磁编码器与驱动器的数据交换通信频率</a:t>
            </a:r>
            <a:endParaRPr lang="en-US" altLang="zh-CN" b="1" strike="sngStrike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25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KTH78xx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的接口延时和编码器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MCU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输出数据接口的频率（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485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输出一般为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4M bps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2.5M bps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  <a:buClr>
                <a:srgbClr val="C00000"/>
              </a:buClr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8.  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安装方式</a:t>
            </a:r>
            <a:r>
              <a:rPr lang="en-US" altLang="zh-CN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离轴在轴</a:t>
            </a:r>
            <a:r>
              <a:rPr lang="en-US" altLang="zh-CN" b="1" strike="sngStrike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离轴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应用是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KTH78xx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的特色应用，摆放需要能感受到平面的磁场，典型应用如下图；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务必注意：</a:t>
            </a:r>
            <a:r>
              <a:rPr lang="zh-CN" altLang="en-US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离轴的磁结构摆放方案需要先给昆泰确认；</a:t>
            </a:r>
            <a:endParaRPr lang="zh-CN" altLang="en-US" sz="1600" strike="sngStrike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07A5982-8776-5C3F-8F1F-6C7C2DC56A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049" y="5531248"/>
            <a:ext cx="4654420" cy="132675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未标题-2"/>
          <p:cNvPicPr>
            <a:picLocks noChangeAspect="1"/>
          </p:cNvPicPr>
          <p:nvPr/>
        </p:nvPicPr>
        <p:blipFill>
          <a:blip r:embed="rId8"/>
          <a:srcRect t="26818" b="28953"/>
          <a:stretch>
            <a:fillRect/>
          </a:stretch>
        </p:blipFill>
        <p:spPr>
          <a:xfrm>
            <a:off x="10174605" y="435610"/>
            <a:ext cx="1764665" cy="359410"/>
          </a:xfrm>
          <a:prstGeom prst="rect">
            <a:avLst/>
          </a:prstGeom>
          <a:effectLst>
            <a:glow rad="228600">
              <a:schemeClr val="bg1">
                <a:alpha val="74000"/>
              </a:schemeClr>
            </a:glow>
          </a:effec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645DBDB-C8D1-0F4C-F3AF-530B0D2A7E9B}"/>
              </a:ext>
            </a:extLst>
          </p:cNvPr>
          <p:cNvSpPr/>
          <p:nvPr/>
        </p:nvSpPr>
        <p:spPr>
          <a:xfrm>
            <a:off x="1374028" y="413928"/>
            <a:ext cx="84652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昆泰高速磁编</a:t>
            </a:r>
            <a:r>
              <a:rPr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KTH78</a:t>
            </a:r>
            <a:r>
              <a:rPr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系列参数说明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3A40F4-8306-0480-2636-CBDCAC69370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87979" y="452018"/>
            <a:ext cx="431800" cy="447040"/>
            <a:chOff x="1217" y="1730"/>
            <a:chExt cx="840" cy="870"/>
          </a:xfrm>
        </p:grpSpPr>
        <p:pic>
          <p:nvPicPr>
            <p:cNvPr id="20" name="图片 19" descr="saomiao">
              <a:extLst>
                <a:ext uri="{FF2B5EF4-FFF2-40B4-BE49-F238E27FC236}">
                  <a16:creationId xmlns:a16="http://schemas.microsoft.com/office/drawing/2014/main" id="{2F733777-BD41-1507-A73F-FEEB5D84E51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217" y="1730"/>
              <a:ext cx="840" cy="870"/>
            </a:xfrm>
            <a:prstGeom prst="rect">
              <a:avLst/>
            </a:prstGeom>
          </p:spPr>
        </p:pic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7783EEBD-D6AB-F9FF-A05B-9064C53F0FDD}"/>
                </a:ext>
              </a:extLst>
            </p:cNvPr>
            <p:cNvGrpSpPr/>
            <p:nvPr/>
          </p:nvGrpSpPr>
          <p:grpSpPr>
            <a:xfrm>
              <a:off x="1498" y="2073"/>
              <a:ext cx="279" cy="184"/>
              <a:chOff x="1490" y="2076"/>
              <a:chExt cx="279" cy="184"/>
            </a:xfrm>
          </p:grpSpPr>
          <p:sp>
            <p:nvSpPr>
              <p:cNvPr id="22" name="圆角矩形 14">
                <a:extLst>
                  <a:ext uri="{FF2B5EF4-FFF2-40B4-BE49-F238E27FC236}">
                    <a16:creationId xmlns:a16="http://schemas.microsoft.com/office/drawing/2014/main" id="{BFDE0CB0-5D25-9EBB-CD38-2D5694D55295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1490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圆角矩形 16">
                <a:extLst>
                  <a:ext uri="{FF2B5EF4-FFF2-40B4-BE49-F238E27FC236}">
                    <a16:creationId xmlns:a16="http://schemas.microsoft.com/office/drawing/2014/main" id="{CC8FB3C6-823B-B2BE-1AF1-E8C3185B08E2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1725" y="2076"/>
                <a:ext cx="45" cy="185"/>
              </a:xfrm>
              <a:prstGeom prst="roundRect">
                <a:avLst>
                  <a:gd name="adj" fmla="val 50000"/>
                </a:avLst>
              </a:prstGeom>
              <a:solidFill>
                <a:srgbClr val="54C3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E679B0A-4493-4F35-5666-2FB46A1310E2}"/>
              </a:ext>
            </a:extLst>
          </p:cNvPr>
          <p:cNvSpPr txBox="1"/>
          <p:nvPr/>
        </p:nvSpPr>
        <p:spPr>
          <a:xfrm>
            <a:off x="870040" y="975238"/>
            <a:ext cx="10451919" cy="4844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00"/>
              </a:lnSpc>
              <a:buClr>
                <a:srgbClr val="C00000"/>
              </a:buClr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9.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接口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SPI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SSI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ABZ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UVW</a:t>
            </a:r>
            <a:r>
              <a:rPr lang="zh-CN" altLang="en-US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为四线制通信接口，最快速率为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SSI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两线制数据接口，最快速率为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ABZ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为三线制脉冲，脉冲的最快频率为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UVW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相差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度的信号，若设置寄存器为两对极，则一圈输出两个周期的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UVW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信号，信号间隔 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度，若设置为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对极且磁铁为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对极，则一圈输出四个周期的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UVW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信号，信号间隔 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度。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KTH78xx UVW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输出信号极对数最高设置为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对极。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为输出频率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910HZ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 的占空比信号。 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4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400"/>
              </a:lnSpc>
              <a:buClr>
                <a:srgbClr val="C00000"/>
              </a:buClr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10. 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高速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最快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120000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转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KTH78xx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的系统延时非常小，优势就是高速。电机若旋转速度在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3000rpm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以下时，我们全系的产品都可以搭配，若系统速度比较高时，不推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KTH7824 (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滤波深度会比较大，延时较长，可能不太适用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33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截止频率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F=0.16/</a:t>
            </a:r>
            <a:r>
              <a:rPr lang="zh-CN" altLang="en-US" sz="1600" strike="sng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时间常数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，转速 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rpm 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为频率*</a:t>
            </a:r>
            <a:r>
              <a:rPr lang="en-US" altLang="zh-CN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1600" strike="sngStrike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strike="sngStrike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415A2C-2BF0-E004-0A65-B6A638FEB6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3227" y="5796417"/>
            <a:ext cx="5471604" cy="8666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1209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33326D5-096F-C92B-D72B-E5B7D7856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86" y="629312"/>
            <a:ext cx="10347044" cy="59820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92401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2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3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4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5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2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3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4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5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2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3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4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5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1"/>
  <p:tag name="KSO_WM_SLIDE_ID" val="custom20205171_13"/>
  <p:tag name="KSO_WM_TEMPLATE_SUBCATEGORY" val="0"/>
  <p:tag name="KSO_WM_TEMPLATE_MASTER_TYPE" val="1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icTxt"/>
  <p:tag name="KSO_WM_SLIDE_SIZE" val="960*541"/>
  <p:tag name="KSO_WM_SLIDE_POSITION" val="0*0"/>
  <p:tag name="KSO_WM_SLIDE_LAYOUT" val="a_d_f"/>
  <p:tag name="KSO_WM_SLIDE_LAYOUT_CNT" val="1_1_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2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3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4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5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1"/>
  <p:tag name="KSO_WM_SLIDE_ID" val="custom20205171_13"/>
  <p:tag name="KSO_WM_TEMPLATE_SUBCATEGORY" val="0"/>
  <p:tag name="KSO_WM_TEMPLATE_MASTER_TYPE" val="1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icTxt"/>
  <p:tag name="KSO_WM_SLIDE_SIZE" val="960*541"/>
  <p:tag name="KSO_WM_SLIDE_POSITION" val="0*0"/>
  <p:tag name="KSO_WM_SLIDE_LAYOUT" val="a_d_f"/>
  <p:tag name="KSO_WM_SLIDE_LAYOUT_CNT" val="1_1_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2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3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4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5171_13*i*5"/>
  <p:tag name="KSO_WM_TEMPLATE_CATEGORY" val="custom"/>
  <p:tag name="KSO_WM_TEMPLATE_INDEX" val="20205171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1"/>
  <p:tag name="KSO_WM_SLIDE_ID" val="custom20205171_13"/>
  <p:tag name="KSO_WM_TEMPLATE_SUBCATEGORY" val="0"/>
  <p:tag name="KSO_WM_TEMPLATE_MASTER_TYPE" val="1"/>
  <p:tag name="KSO_WM_TEMPLATE_COLOR_TYPE" val="1"/>
  <p:tag name="KSO_WM_SLIDE_ITEM_CNT" val="0"/>
  <p:tag name="KSO_WM_SLIDE_INDEX" val="13"/>
  <p:tag name="KSO_WM_TAG_VERSION" val="1.0"/>
  <p:tag name="KSO_WM_SLIDE_TYPE" val="text"/>
  <p:tag name="KSO_WM_SLIDE_SUBTYPE" val="picTxt"/>
  <p:tag name="KSO_WM_SLIDE_SIZE" val="960*541"/>
  <p:tag name="KSO_WM_SLIDE_POSITION" val="0*0"/>
  <p:tag name="KSO_WM_SLIDE_LAYOUT" val="a_d_f"/>
  <p:tag name="KSO_WM_SLIDE_LAYOUT_CNT" val="1_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1804</TotalTime>
  <Words>2700</Words>
  <Application>Microsoft Office PowerPoint</Application>
  <PresentationFormat>宽屏</PresentationFormat>
  <Paragraphs>334</Paragraphs>
  <Slides>37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Adobe 黑体 Std R</vt:lpstr>
      <vt:lpstr>等线</vt:lpstr>
      <vt:lpstr>等线 Light</vt:lpstr>
      <vt:lpstr>楷体</vt:lpstr>
      <vt:lpstr>思源黑体 CN Light</vt:lpstr>
      <vt:lpstr>微软雅黑</vt:lpstr>
      <vt:lpstr>微软雅黑 Light</vt:lpstr>
      <vt:lpstr>Arial</vt:lpstr>
      <vt:lpstr>Wingdings</vt:lpstr>
      <vt:lpstr>Office 主题​​</vt:lpstr>
      <vt:lpstr>PowerPoint 演示文稿</vt:lpstr>
      <vt:lpstr>核心信号</vt:lpstr>
      <vt:lpstr>角度的二进制表示</vt:lpstr>
      <vt:lpstr>PowerPoint 演示文稿</vt:lpstr>
      <vt:lpstr>核心指标</vt:lpstr>
      <vt:lpstr>精度 Accuracy </vt:lpstr>
      <vt:lpstr>分辨率 Resolution </vt:lpstr>
      <vt:lpstr>重复性 Repeatability </vt:lpstr>
      <vt:lpstr>分辨率 精度 重复性  </vt:lpstr>
      <vt:lpstr>PowerPoint 演示文稿</vt:lpstr>
      <vt:lpstr>核心指标</vt:lpstr>
      <vt:lpstr>系统延迟的两种定义</vt:lpstr>
      <vt:lpstr>核心输出</vt:lpstr>
      <vt:lpstr>ABZ 输出</vt:lpstr>
      <vt:lpstr>ABZ线数</vt:lpstr>
      <vt:lpstr>ABZ最大频率</vt:lpstr>
      <vt:lpstr>ABZ 支持最大转速</vt:lpstr>
      <vt:lpstr>核心输出</vt:lpstr>
      <vt:lpstr>UVW极对数</vt:lpstr>
      <vt:lpstr>PWM波形</vt:lpstr>
      <vt:lpstr>核心输出</vt:lpstr>
      <vt:lpstr>SPI简介</vt:lpstr>
      <vt:lpstr>SPI的速度</vt:lpstr>
      <vt:lpstr>SPI的作用</vt:lpstr>
      <vt:lpstr>SPI的准确(CRC)</vt:lpstr>
      <vt:lpstr>SPI的后补SSI</vt:lpstr>
      <vt:lpstr>典型应用</vt:lpstr>
      <vt:lpstr>在轴</vt:lpstr>
      <vt:lpstr>离轴</vt:lpstr>
      <vt:lpstr>芯片使用</vt:lpstr>
      <vt:lpstr> 2种封装 / 2种供电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1544926998@qq.com</dc:creator>
  <cp:lastModifiedBy>Chao WANG</cp:lastModifiedBy>
  <cp:revision>32</cp:revision>
  <dcterms:created xsi:type="dcterms:W3CDTF">2023-04-06T01:32:34Z</dcterms:created>
  <dcterms:modified xsi:type="dcterms:W3CDTF">2023-08-03T06:52:44Z</dcterms:modified>
</cp:coreProperties>
</file>